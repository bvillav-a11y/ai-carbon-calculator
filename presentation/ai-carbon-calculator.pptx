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One line: "This is a tour of a small tool that estimates the monthly carbon footprint of personal AI use — and more interestingly, the reasoning and the deployment story behind it." Set the frame: three parts — the choices, the bases (the math + data), and getting it live on gizmos. ~30s.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Emphasise the gap: people feel guilty or dismissive, neither is grounded. The bar we set ourselves: defensible, transparent, and driven by answers a non-expert can give. Mention it's live on gizmos internally and mirrored on GitHub Pages. ~45s.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"First, the product reasoning — why the tool is shaped the way it is." ~10s.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whole app — keep coming back to it. Plain-language answers become physical parameters; parameters feed one math function; the kg result is translated into things people feel. The key engineering property: it's a one-way pure pipeline, so "what-if" is free — change an input, everything recomputes. ~50s.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product bet: meet people where they are. Asking for PUE or utilisation directly would lose everyone. So we map answerable questions onto the physical parameters. Note the deliberate decoupling: task complexity drives the model tier; interactivity feeds utilisation, NOT the tier. Each inference also stores a reason string, surfaced as a tooltip on the matching control. ~55s.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Progressive disclosure. The old design led with a parameter form; we flipped it. Land on the outcome, then "here's what you can do," then — for the curious — the full machinery behind four collapsibles under a "More information" header. This is also where engagement telemetry lives: we record which of those menus people open. ~50s.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sceptical technical audience, trust is the product. Three moves: (1) every number is both editable and cited, with an explicit confidence level; (2) we proactively state the estimate is conservative and list what's left out; (3) accessibility is maintained, not bolted on — ARIA patterns, keyboard nav, AA contrast (several palette colours were lifted specifically to pass AA). ~55s.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rigour. "Now the part a technical audience actually wants — what's under the number." ~10s.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line slowly — this is the meatiest slide. Energy starts per-token, split input vs output. Divide by utilisation (idle GPUs still draw power). Multiply by PUE (data-centre overhead). Multiply by grid intensity to turn kWh into kg. Add amortised embodied carbon. The on-screen ledger in the app mirrors this row for row — the math is never hidden. ~90s; this slide can run long, that's fine.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points. First, energy is per-token and asymmetric — output is autoregressive (one token at a time) so it's roughly 5× input; that's why "ask for concise answers" is a real lever. Second, tiers scale ~linearly Haiku→Sonnet→Opus, which is what makes "right-size your model" a genuine carbon decision, not a rounding error. Numbers are grounded in Epoch AI's public estimates. ~60s.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multipliers people never see. GPU choice sets the power draw and carries embodied carbon. PUE is the tax for cooling and networking — 1.4 means 40% on top. Utilisation is the sneaky one: a half-idle GPU doubles the energy attributed to each real token, which is exactly why interactive use is dirtier per token than batch. ~60s.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biggest swing in the whole model. Same tokens, same hardware: a BC-hydro grid versus Polish coal differ by ~47×. So the app's biggest lever isn't the model — it's where the data centre is. That's why one of the personalised insights is grid-based: above 150 g we compute the saving against a ~50 g hydro/nuclear reference. ~55s.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footprint tools ignore embodied carbon entirely. We amortise the chip's manufacturing emissions across all the tokens it will ever serve, then attribute your slice. It's usually small versus operational energy — but including it is part of being defensible rather than convenient, and it's adjustable in the advanced panel. ~45s.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kilogram of CO₂ is meaningless to most people. So we translate: kilometres driven, trees-years to offset, dollars of social cost. Note the colour discipline — these three accents (orange/teal/pink) are reserved exclusively for equivalents, never reused for a parameter, so the eye learns "this colour = a real-world analogy." ~45s.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rigour section on humility. Each factor carries a confidence level — grid is well-measured, PUE is inferred and uncertain. We list the big exclusions explicitly so nobody thinks the number is complete. And the engineering punchline: because computeCarbon is a single pure function, the Haiku/Sonnet/Opus scenario comparison is literally the same function called three times — no duplicated math to drift. ~55s.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war-stories. "Now how it actually got live — and everything that fought back." ~10s.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deployment shape. The calculator is a single no-framework index.html, which makes the public mirror trivial. The interesting target is gizmos — TELUS's internal app platform — where the same file is served by a Worker that also collects anonymous survey data into a per-app SQLite (D1) database. The constraint that everything is one HTML file drives the whole embed story coming up. ~50s.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shipped architecture, deliberately minimal. One Worker, three routes. The HTML is embedded in the Worker as a base64 string. Collection is a same-origin POST, upserting by session id so re-runs update one row. Export is a CSV endpoint we use to verify data, because the platform's DB CLI needs a browser session. Now — why does it look like this? Because three things broke first. ~50s.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 slide — tell these as stories. (1) The deploy 500'd with empty logs; bisection showed the loader won't resolve a bare hono import at runtime, so any framework worker dies on load — fix was a plain Workers module with zero imports. (2) Collection POSTs vanished; turns out /api/* is reserved by the platform and app POSTs to it are blocked — renaming to /collect fixed it instantly. (3) The original plan POSTed to a Google Apps Script, but background cross-origin requests get their auth cookie stripped, so it silently 401'd — which is the whole reason collection became same-origin. Each failure shaped the architecture on the last two slides. ~90s.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change ships. index.html stays the single source of truth; a small build step base64-encodes it into the Worker template, producing the deployable file we push. Why base64 and not a JS template string? The app's inline script is full of backticks and dollar-brace — it would shred a template literal. The one discipline: re-run embed after any HTML change, or you deploy stale. ~45s.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learn and how. Only anonymous signals — the survey answers, the computed number, and engagement: how long on results, which "More information" menus they opened, whether they shared or retook. All consent-gated, one upserted row per session. The schema note matters for the next slide's lesson: the prod table predates the telemetry columns, so the Worker runs idempotent ALTER TABLE migrations to add them — CREATE IF NOT EXISTS won't touch an existing table. ~55s.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portable lessons. One: don't fight the platform — its limits became the design. Two: the migration lesson is the one I'd tattoo — a schema change isn't done until its migration ships with it. Three: for a credibility tool, showing the working IS the product. Four: meta-point — the tool tells users to pick the smallest model that does the job; same applies to our own engineering. ~55s.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Invite questions; offer to walk the live app or the Worker source. Likely Qs: where the per-token numbers come from (Epoch AI), why embodied is included, how gizmos D1 differs from raw D1 (the D1Proxy API). ~10s +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822960" y="1828800"/>
            <a:ext cx="3657600" cy="457200"/>
          </a:xfrm>
          <a:prstGeom prst="roundRect">
            <a:avLst>
              <a:gd name="adj" fmla="val 50000"/>
            </a:avLst>
          </a:prstGeom>
          <a:solidFill>
            <a:srgbClr val="122D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i="0">
                <a:solidFill>
                  <a:srgbClr val="3FB950"/>
                </a:solidFill>
                <a:latin typeface="Space Mono"/>
              </a:rPr>
              <a:t>AI CARBON CALCULATOR</a:t>
            </a:r>
          </a:p>
        </p:txBody>
      </p:sp>
      <p:sp>
        <p:nvSpPr>
          <p:cNvPr id="3" name="TextBox 2"/>
          <p:cNvSpPr txBox="1"/>
          <p:nvPr/>
        </p:nvSpPr>
        <p:spPr>
          <a:xfrm>
            <a:off x="822960" y="2468880"/>
            <a:ext cx="10545775" cy="1645920"/>
          </a:xfrm>
          <a:prstGeom prst="rect">
            <a:avLst/>
          </a:prstGeom>
          <a:noFill/>
        </p:spPr>
        <p:txBody>
          <a:bodyPr wrap="square" anchor="t">
            <a:spAutoFit/>
          </a:bodyPr>
          <a:lstStyle/>
          <a:p>
            <a:pPr algn="l">
              <a:lnSpc>
                <a:spcPct val="100000"/>
              </a:lnSpc>
            </a:pPr>
            <a:r>
              <a:rPr sz="5000" b="1" i="0">
                <a:solidFill>
                  <a:srgbClr val="E6EDF3"/>
                </a:solidFill>
                <a:latin typeface="Space Grotesk"/>
              </a:rPr>
              <a:t>What does your AI use</a:t>
            </a:r>
          </a:p>
          <a:p>
            <a:pPr algn="l">
              <a:lnSpc>
                <a:spcPct val="100000"/>
              </a:lnSpc>
            </a:pPr>
            <a:r>
              <a:rPr sz="5000" b="1" i="0">
                <a:solidFill>
                  <a:srgbClr val="E6EDF3"/>
                </a:solidFill>
                <a:latin typeface="Space Grotesk"/>
              </a:rPr>
              <a:t>cost the planet?</a:t>
            </a:r>
          </a:p>
        </p:txBody>
      </p:sp>
      <p:sp>
        <p:nvSpPr>
          <p:cNvPr id="4" name="TextBox 3"/>
          <p:cNvSpPr txBox="1"/>
          <p:nvPr/>
        </p:nvSpPr>
        <p:spPr>
          <a:xfrm>
            <a:off x="822960" y="4297680"/>
            <a:ext cx="10545775" cy="548640"/>
          </a:xfrm>
          <a:prstGeom prst="rect">
            <a:avLst/>
          </a:prstGeom>
          <a:noFill/>
        </p:spPr>
        <p:txBody>
          <a:bodyPr wrap="square" anchor="t">
            <a:spAutoFit/>
          </a:bodyPr>
          <a:lstStyle/>
          <a:p>
            <a:pPr algn="l"/>
            <a:r>
              <a:rPr sz="2000" b="0" i="0">
                <a:solidFill>
                  <a:srgbClr val="B1BAC4"/>
                </a:solidFill>
                <a:latin typeface="Space Grotesk"/>
              </a:rPr>
              <a:t>The logic, the bases, and the deployment of a footprint estimator.</a:t>
            </a:r>
          </a:p>
        </p:txBody>
      </p:sp>
      <p:sp>
        <p:nvSpPr>
          <p:cNvPr id="5" name="TextBox 4"/>
          <p:cNvSpPr txBox="1"/>
          <p:nvPr/>
        </p:nvSpPr>
        <p:spPr>
          <a:xfrm>
            <a:off x="822960" y="4937760"/>
            <a:ext cx="10545775" cy="457200"/>
          </a:xfrm>
          <a:prstGeom prst="rect">
            <a:avLst/>
          </a:prstGeom>
          <a:noFill/>
        </p:spPr>
        <p:txBody>
          <a:bodyPr wrap="square" anchor="t">
            <a:spAutoFit/>
          </a:bodyPr>
          <a:lstStyle/>
          <a:p>
            <a:pPr algn="l"/>
            <a:r>
              <a:rPr sz="1400" b="0" i="0">
                <a:solidFill>
                  <a:srgbClr val="B1BAC4"/>
                </a:solidFill>
                <a:latin typeface="Space Mono"/>
              </a:rPr>
              <a:t>Bianca Villavicencio · TELUS Digital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THE PROBLEM</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Nobody actually knows their number</a:t>
            </a:r>
          </a:p>
        </p:txBody>
      </p:sp>
      <p:sp>
        <p:nvSpPr>
          <p:cNvPr id="4" name="TextBox 3"/>
          <p:cNvSpPr txBox="1"/>
          <p:nvPr/>
        </p:nvSpPr>
        <p:spPr>
          <a:xfrm>
            <a:off x="822960" y="2103120"/>
            <a:ext cx="10545775" cy="3657600"/>
          </a:xfrm>
          <a:prstGeom prst="rect">
            <a:avLst/>
          </a:prstGeom>
          <a:noFill/>
        </p:spPr>
        <p:txBody>
          <a:bodyPr wrap="square">
            <a:spAutoFit/>
          </a:bodyPr>
          <a:lstStyle/>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Providers don't disclose per-query energy, water, or training amortisation.</a:t>
            </a:r>
          </a:p>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"AI is bad for the environment" is a vibe, not a number you can act on.</a:t>
            </a:r>
          </a:p>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Goal: a </a:t>
            </a:r>
            <a:r>
              <a:rPr sz="2000" b="1" i="0">
                <a:solidFill>
                  <a:srgbClr val="E6EDF3"/>
                </a:solidFill>
                <a:latin typeface="Space Grotesk"/>
              </a:rPr>
              <a:t>defensible estimate</a:t>
            </a:r>
            <a:r>
              <a:rPr sz="2000" b="0" i="0">
                <a:solidFill>
                  <a:srgbClr val="E6EDF3"/>
                </a:solidFill>
                <a:latin typeface="Space Grotesk"/>
              </a:rPr>
              <a:t> from inputs a normal person can answer — and show the working.</a:t>
            </a:r>
          </a:p>
        </p:txBody>
      </p:sp>
      <p:sp>
        <p:nvSpPr>
          <p:cNvPr id="5" name="TextBox 4"/>
          <p:cNvSpPr txBox="1"/>
          <p:nvPr/>
        </p:nvSpPr>
        <p:spPr>
          <a:xfrm>
            <a:off x="822960" y="5897880"/>
            <a:ext cx="10545775" cy="640080"/>
          </a:xfrm>
          <a:prstGeom prst="rect">
            <a:avLst/>
          </a:prstGeom>
          <a:noFill/>
        </p:spPr>
        <p:txBody>
          <a:bodyPr wrap="square" anchor="t">
            <a:spAutoFit/>
          </a:bodyPr>
          <a:lstStyle/>
          <a:p>
            <a:pPr algn="l">
              <a:lnSpc>
                <a:spcPct val="110000"/>
              </a:lnSpc>
            </a:pPr>
            <a:r>
              <a:rPr sz="1300" b="0" i="0">
                <a:solidFill>
                  <a:srgbClr val="B1BAC4"/>
                </a:solidFill>
                <a:latin typeface="Space Mono"/>
              </a:rPr>
              <a:t>Live: ai-carbon-footprint.telus.gizmos.run  ·  public mirror: bvillav-a11y.github.io/ai-carbon-calculator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822960" y="2468880"/>
            <a:ext cx="1956816" cy="457200"/>
          </a:xfrm>
          <a:prstGeom prst="roundRect">
            <a:avLst>
              <a:gd name="adj" fmla="val 50000"/>
            </a:avLst>
          </a:prstGeom>
          <a:solidFill>
            <a:srgbClr val="122D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i="0">
                <a:solidFill>
                  <a:srgbClr val="3FB950"/>
                </a:solidFill>
                <a:latin typeface="Space Mono"/>
              </a:rPr>
              <a:t>PILLAR I</a:t>
            </a:r>
          </a:p>
        </p:txBody>
      </p:sp>
      <p:sp>
        <p:nvSpPr>
          <p:cNvPr id="3" name="TextBox 2"/>
          <p:cNvSpPr txBox="1"/>
          <p:nvPr/>
        </p:nvSpPr>
        <p:spPr>
          <a:xfrm>
            <a:off x="822960" y="3154680"/>
            <a:ext cx="10545775" cy="1463040"/>
          </a:xfrm>
          <a:prstGeom prst="rect">
            <a:avLst/>
          </a:prstGeom>
          <a:noFill/>
        </p:spPr>
        <p:txBody>
          <a:bodyPr wrap="square" anchor="t">
            <a:spAutoFit/>
          </a:bodyPr>
          <a:lstStyle/>
          <a:p>
            <a:pPr algn="l">
              <a:lnSpc>
                <a:spcPct val="100000"/>
              </a:lnSpc>
            </a:pPr>
            <a:r>
              <a:rPr sz="4800" b="1" i="0">
                <a:solidFill>
                  <a:srgbClr val="E6EDF3"/>
                </a:solidFill>
                <a:latin typeface="Space Grotesk"/>
              </a:rPr>
              <a:t>The logic of the choices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THE MENTAL MODEL</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One pipeline, four stages</a:t>
            </a:r>
          </a:p>
        </p:txBody>
      </p:sp>
      <p:sp>
        <p:nvSpPr>
          <p:cNvPr id="4" name="Rounded Rectangle 3"/>
          <p:cNvSpPr/>
          <p:nvPr/>
        </p:nvSpPr>
        <p:spPr>
          <a:xfrm>
            <a:off x="822960" y="2468880"/>
            <a:ext cx="2293543" cy="91440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E6EDF3"/>
                </a:solidFill>
                <a:latin typeface="Space Mono"/>
              </a:rPr>
              <a:t>survey
answers</a:t>
            </a:r>
          </a:p>
        </p:txBody>
      </p:sp>
      <p:sp>
        <p:nvSpPr>
          <p:cNvPr id="5" name="TextBox 4"/>
          <p:cNvSpPr txBox="1"/>
          <p:nvPr/>
        </p:nvSpPr>
        <p:spPr>
          <a:xfrm>
            <a:off x="3116503" y="2468880"/>
            <a:ext cx="457200" cy="914400"/>
          </a:xfrm>
          <a:prstGeom prst="rect">
            <a:avLst/>
          </a:prstGeom>
          <a:noFill/>
        </p:spPr>
        <p:txBody>
          <a:bodyPr wrap="none" anchor="ctr">
            <a:spAutoFit/>
          </a:bodyPr>
          <a:lstStyle/>
          <a:p>
            <a:pPr algn="ctr"/>
            <a:r>
              <a:rPr sz="2400" b="1" i="0">
                <a:solidFill>
                  <a:srgbClr val="3FB950"/>
                </a:solidFill>
                <a:latin typeface="Space Grotesk"/>
              </a:rPr>
              <a:t>→</a:t>
            </a:r>
          </a:p>
        </p:txBody>
      </p:sp>
      <p:sp>
        <p:nvSpPr>
          <p:cNvPr id="6" name="Rounded Rectangle 5"/>
          <p:cNvSpPr/>
          <p:nvPr/>
        </p:nvSpPr>
        <p:spPr>
          <a:xfrm>
            <a:off x="3573703" y="2468880"/>
            <a:ext cx="2293543" cy="91440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E6EDF3"/>
                </a:solidFill>
                <a:latin typeface="Space Mono"/>
              </a:rPr>
              <a:t>inferred
parameters</a:t>
            </a:r>
          </a:p>
        </p:txBody>
      </p:sp>
      <p:sp>
        <p:nvSpPr>
          <p:cNvPr id="7" name="TextBox 6"/>
          <p:cNvSpPr txBox="1"/>
          <p:nvPr/>
        </p:nvSpPr>
        <p:spPr>
          <a:xfrm>
            <a:off x="5867246" y="2468880"/>
            <a:ext cx="457200" cy="914400"/>
          </a:xfrm>
          <a:prstGeom prst="rect">
            <a:avLst/>
          </a:prstGeom>
          <a:noFill/>
        </p:spPr>
        <p:txBody>
          <a:bodyPr wrap="none" anchor="ctr">
            <a:spAutoFit/>
          </a:bodyPr>
          <a:lstStyle/>
          <a:p>
            <a:pPr algn="ctr"/>
            <a:r>
              <a:rPr sz="2400" b="1" i="0">
                <a:solidFill>
                  <a:srgbClr val="3FB950"/>
                </a:solidFill>
                <a:latin typeface="Space Grotesk"/>
              </a:rPr>
              <a:t>→</a:t>
            </a:r>
          </a:p>
        </p:txBody>
      </p:sp>
      <p:sp>
        <p:nvSpPr>
          <p:cNvPr id="8" name="Rounded Rectangle 7"/>
          <p:cNvSpPr/>
          <p:nvPr/>
        </p:nvSpPr>
        <p:spPr>
          <a:xfrm>
            <a:off x="6324446" y="2468880"/>
            <a:ext cx="2293543" cy="91440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E6EDF3"/>
                </a:solidFill>
                <a:latin typeface="Space Mono"/>
              </a:rPr>
              <a:t>carbon
math</a:t>
            </a:r>
          </a:p>
        </p:txBody>
      </p:sp>
      <p:sp>
        <p:nvSpPr>
          <p:cNvPr id="9" name="TextBox 8"/>
          <p:cNvSpPr txBox="1"/>
          <p:nvPr/>
        </p:nvSpPr>
        <p:spPr>
          <a:xfrm>
            <a:off x="8617989" y="2468880"/>
            <a:ext cx="457200" cy="914400"/>
          </a:xfrm>
          <a:prstGeom prst="rect">
            <a:avLst/>
          </a:prstGeom>
          <a:noFill/>
        </p:spPr>
        <p:txBody>
          <a:bodyPr wrap="none" anchor="ctr">
            <a:spAutoFit/>
          </a:bodyPr>
          <a:lstStyle/>
          <a:p>
            <a:pPr algn="ctr"/>
            <a:r>
              <a:rPr sz="2400" b="1" i="0">
                <a:solidFill>
                  <a:srgbClr val="3FB950"/>
                </a:solidFill>
                <a:latin typeface="Space Grotesk"/>
              </a:rPr>
              <a:t>→</a:t>
            </a:r>
          </a:p>
        </p:txBody>
      </p:sp>
      <p:sp>
        <p:nvSpPr>
          <p:cNvPr id="10" name="Rounded Rectangle 9"/>
          <p:cNvSpPr/>
          <p:nvPr/>
        </p:nvSpPr>
        <p:spPr>
          <a:xfrm>
            <a:off x="9075189" y="2468880"/>
            <a:ext cx="2293543" cy="91440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E6EDF3"/>
                </a:solidFill>
                <a:latin typeface="Space Mono"/>
              </a:rPr>
              <a:t>tangible
equivalents</a:t>
            </a:r>
          </a:p>
        </p:txBody>
      </p:sp>
      <p:sp>
        <p:nvSpPr>
          <p:cNvPr id="11" name="TextBox 10"/>
          <p:cNvSpPr txBox="1"/>
          <p:nvPr/>
        </p:nvSpPr>
        <p:spPr>
          <a:xfrm>
            <a:off x="822960" y="3931920"/>
            <a:ext cx="10545775" cy="640080"/>
          </a:xfrm>
          <a:prstGeom prst="rect">
            <a:avLst/>
          </a:prstGeom>
          <a:noFill/>
        </p:spPr>
        <p:txBody>
          <a:bodyPr wrap="square" anchor="t">
            <a:spAutoFit/>
          </a:bodyPr>
          <a:lstStyle/>
          <a:p>
            <a:pPr algn="l">
              <a:lnSpc>
                <a:spcPct val="110000"/>
              </a:lnSpc>
            </a:pPr>
            <a:r>
              <a:rPr sz="1500" b="0" i="0">
                <a:solidFill>
                  <a:srgbClr val="B1BAC4"/>
                </a:solidFill>
                <a:latin typeface="Space Grotesk"/>
              </a:rPr>
              <a:t>Everything downstream is a pure function of the inferred parameters, so any value can be overridden and the whole chain re-renders live.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CHOICE · INPUTS</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A survey, not a parameter form</a:t>
            </a:r>
          </a:p>
        </p:txBody>
      </p:sp>
      <p:sp>
        <p:nvSpPr>
          <p:cNvPr id="4" name="Rounded Rectangle 3"/>
          <p:cNvSpPr/>
          <p:nvPr/>
        </p:nvSpPr>
        <p:spPr>
          <a:xfrm>
            <a:off x="822960" y="2103120"/>
            <a:ext cx="5090007" cy="201168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YOU ASK</a:t>
            </a:r>
          </a:p>
          <a:p>
            <a:pPr>
              <a:lnSpc>
                <a:spcPct val="112000"/>
              </a:lnSpc>
            </a:pPr>
            <a:r>
              <a:rPr sz="1600" b="0" i="0">
                <a:solidFill>
                  <a:srgbClr val="E6EDF3"/>
                </a:solidFill>
                <a:latin typeface="Space Grotesk"/>
              </a:rPr>
              <a:t>"How complex are your tasks?"</a:t>
            </a:r>
          </a:p>
          <a:p>
            <a:pPr>
              <a:lnSpc>
                <a:spcPct val="112000"/>
              </a:lnSpc>
            </a:pPr>
            <a:r>
              <a:rPr sz="1600" b="0" i="0">
                <a:solidFill>
                  <a:srgbClr val="E6EDF3"/>
                </a:solidFill>
                <a:latin typeface="Space Grotesk"/>
              </a:rPr>
              <a:t>"Cloud or on-prem?"</a:t>
            </a:r>
          </a:p>
          <a:p>
            <a:pPr>
              <a:lnSpc>
                <a:spcPct val="112000"/>
              </a:lnSpc>
            </a:pPr>
            <a:r>
              <a:rPr sz="1600" b="0" i="0">
                <a:solidFill>
                  <a:srgbClr val="E6EDF3"/>
                </a:solidFill>
                <a:latin typeface="Space Grotesk"/>
              </a:rPr>
              <a:t>"Interactive or batch?"</a:t>
            </a:r>
          </a:p>
        </p:txBody>
      </p:sp>
      <p:sp>
        <p:nvSpPr>
          <p:cNvPr id="5" name="Rounded Rectangle 4"/>
          <p:cNvSpPr/>
          <p:nvPr/>
        </p:nvSpPr>
        <p:spPr>
          <a:xfrm>
            <a:off x="6278727" y="2103120"/>
            <a:ext cx="5090007" cy="201168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YOU INFER</a:t>
            </a:r>
          </a:p>
          <a:p>
            <a:pPr>
              <a:lnSpc>
                <a:spcPct val="112000"/>
              </a:lnSpc>
            </a:pPr>
            <a:r>
              <a:rPr sz="1600" b="0" i="0">
                <a:solidFill>
                  <a:srgbClr val="E6EDF3"/>
                </a:solidFill>
                <a:latin typeface="Space Grotesk"/>
              </a:rPr>
              <a:t>task complexity → </a:t>
            </a:r>
            <a:r>
              <a:rPr sz="1600" b="1" i="0">
                <a:solidFill>
                  <a:srgbClr val="E6EDF3"/>
                </a:solidFill>
                <a:latin typeface="Space Grotesk"/>
              </a:rPr>
              <a:t>model tier</a:t>
            </a:r>
          </a:p>
          <a:p>
            <a:pPr>
              <a:lnSpc>
                <a:spcPct val="112000"/>
              </a:lnSpc>
            </a:pPr>
            <a:r>
              <a:rPr sz="1600" b="0" i="0">
                <a:solidFill>
                  <a:srgbClr val="E6EDF3"/>
                </a:solidFill>
                <a:latin typeface="Space Grotesk"/>
              </a:rPr>
              <a:t>hardware type → </a:t>
            </a:r>
            <a:r>
              <a:rPr sz="1600" b="1" i="0">
                <a:solidFill>
                  <a:srgbClr val="E6EDF3"/>
                </a:solidFill>
                <a:latin typeface="Space Grotesk"/>
              </a:rPr>
              <a:t>PUE</a:t>
            </a:r>
          </a:p>
          <a:p>
            <a:pPr>
              <a:lnSpc>
                <a:spcPct val="112000"/>
              </a:lnSpc>
            </a:pPr>
            <a:r>
              <a:rPr sz="1600" b="0" i="0">
                <a:solidFill>
                  <a:srgbClr val="E6EDF3"/>
                </a:solidFill>
                <a:latin typeface="Space Grotesk"/>
              </a:rPr>
              <a:t>interactivity + frequency → </a:t>
            </a:r>
            <a:r>
              <a:rPr sz="1600" b="1" i="0">
                <a:solidFill>
                  <a:srgbClr val="E6EDF3"/>
                </a:solidFill>
                <a:latin typeface="Space Grotesk"/>
              </a:rPr>
              <a:t>utilisation</a:t>
            </a:r>
          </a:p>
        </p:txBody>
      </p:sp>
      <p:sp>
        <p:nvSpPr>
          <p:cNvPr id="6" name="TextBox 5"/>
          <p:cNvSpPr txBox="1"/>
          <p:nvPr/>
        </p:nvSpPr>
        <p:spPr>
          <a:xfrm>
            <a:off x="822960" y="448056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Nobody knows their PUE. Everybody knows whether they run batch jobs or chat.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CHOICE · LAYOUT</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Outcome first, knobs last</a:t>
            </a:r>
          </a:p>
        </p:txBody>
      </p:sp>
      <p:sp>
        <p:nvSpPr>
          <p:cNvPr id="4" name="TextBox 3"/>
          <p:cNvSpPr txBox="1"/>
          <p:nvPr/>
        </p:nvSpPr>
        <p:spPr>
          <a:xfrm>
            <a:off x="822960" y="2103120"/>
            <a:ext cx="10545775" cy="3657600"/>
          </a:xfrm>
          <a:prstGeom prst="rect">
            <a:avLst/>
          </a:prstGeom>
          <a:noFill/>
        </p:spPr>
        <p:txBody>
          <a:bodyPr wrap="square">
            <a:spAutoFit/>
          </a:bodyPr>
          <a:lstStyle/>
          <a:p>
            <a:pPr>
              <a:lnSpc>
                <a:spcPct val="112000"/>
              </a:lnSpc>
              <a:spcAft>
                <a:spcPts val="1100"/>
              </a:spcAft>
            </a:pPr>
            <a:r>
              <a:rPr sz="2000" b="1" i="0">
                <a:solidFill>
                  <a:srgbClr val="3FB950"/>
                </a:solidFill>
                <a:latin typeface="Space Grotesk"/>
              </a:rPr>
              <a:t>•  </a:t>
            </a:r>
            <a:r>
              <a:rPr sz="2000" b="1" i="0">
                <a:solidFill>
                  <a:srgbClr val="E6EDF3"/>
                </a:solidFill>
                <a:latin typeface="Space Grotesk"/>
              </a:rPr>
              <a:t>Results</a:t>
            </a:r>
            <a:r>
              <a:rPr sz="2000" b="0" i="0">
                <a:solidFill>
                  <a:srgbClr val="E6EDF3"/>
                </a:solidFill>
                <a:latin typeface="Space Grotesk"/>
              </a:rPr>
              <a:t> — the number + tangible equivalents, immediately.</a:t>
            </a:r>
          </a:p>
          <a:p>
            <a:pPr>
              <a:lnSpc>
                <a:spcPct val="112000"/>
              </a:lnSpc>
              <a:spcAft>
                <a:spcPts val="1100"/>
              </a:spcAft>
            </a:pPr>
            <a:r>
              <a:rPr sz="2000" b="1" i="0">
                <a:solidFill>
                  <a:srgbClr val="3FB950"/>
                </a:solidFill>
                <a:latin typeface="Space Grotesk"/>
              </a:rPr>
              <a:t>•  </a:t>
            </a:r>
            <a:r>
              <a:rPr sz="2000" b="1" i="0">
                <a:solidFill>
                  <a:srgbClr val="E6EDF3"/>
                </a:solidFill>
                <a:latin typeface="Space Grotesk"/>
              </a:rPr>
              <a:t>Insights &amp; actions</a:t>
            </a:r>
            <a:r>
              <a:rPr sz="2000" b="0" i="0">
                <a:solidFill>
                  <a:srgbClr val="E6EDF3"/>
                </a:solidFill>
                <a:latin typeface="Space Grotesk"/>
              </a:rPr>
              <a:t> — right-size your model, cleaner grid, concrete cuts.</a:t>
            </a:r>
          </a:p>
          <a:p>
            <a:pPr>
              <a:lnSpc>
                <a:spcPct val="112000"/>
              </a:lnSpc>
              <a:spcAft>
                <a:spcPts val="1100"/>
              </a:spcAft>
            </a:pPr>
            <a:r>
              <a:rPr sz="2000" b="1" i="0">
                <a:solidFill>
                  <a:srgbClr val="3FB950"/>
                </a:solidFill>
                <a:latin typeface="Space Grotesk"/>
              </a:rPr>
              <a:t>•  </a:t>
            </a:r>
            <a:r>
              <a:rPr sz="2000" b="1" i="0">
                <a:solidFill>
                  <a:srgbClr val="E6EDF3"/>
                </a:solidFill>
                <a:latin typeface="Space Grotesk"/>
              </a:rPr>
              <a:t>More information</a:t>
            </a:r>
            <a:r>
              <a:rPr sz="2000" b="0" i="0">
                <a:solidFill>
                  <a:srgbClr val="E6EDF3"/>
                </a:solidFill>
                <a:latin typeface="Space Grotesk"/>
              </a:rPr>
              <a:t> — parameters, calculation trace, confidence, sources — all collapsed.</a:t>
            </a:r>
          </a:p>
        </p:txBody>
      </p:sp>
      <p:sp>
        <p:nvSpPr>
          <p:cNvPr id="5" name="TextBox 4"/>
          <p:cNvSpPr txBox="1"/>
          <p:nvPr/>
        </p:nvSpPr>
        <p:spPr>
          <a:xfrm>
            <a:off x="822960" y="589788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Most people want the answer and what to do about it. Experts can open every knob.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CHOICE · TRUST</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Credibility is a feature</a:t>
            </a:r>
          </a:p>
        </p:txBody>
      </p:sp>
      <p:sp>
        <p:nvSpPr>
          <p:cNvPr id="4" name="Rounded Rectangle 3"/>
          <p:cNvSpPr/>
          <p:nvPr/>
        </p:nvSpPr>
        <p:spPr>
          <a:xfrm>
            <a:off x="822960" y="2103120"/>
            <a:ext cx="5090007" cy="155448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EVERY ASSUMPTION</a:t>
            </a:r>
          </a:p>
          <a:p>
            <a:pPr>
              <a:lnSpc>
                <a:spcPct val="112000"/>
              </a:lnSpc>
            </a:pPr>
            <a:r>
              <a:rPr sz="1600" b="0" i="0">
                <a:solidFill>
                  <a:srgbClr val="E6EDF3"/>
                </a:solidFill>
                <a:latin typeface="Space Grotesk"/>
              </a:rPr>
              <a:t>editable </a:t>
            </a:r>
            <a:r>
              <a:rPr sz="1600" b="0" i="1">
                <a:solidFill>
                  <a:srgbClr val="E6EDF3"/>
                </a:solidFill>
                <a:latin typeface="Space Grotesk"/>
              </a:rPr>
              <a:t>and</a:t>
            </a:r>
            <a:r>
              <a:rPr sz="1600" b="0" i="0">
                <a:solidFill>
                  <a:srgbClr val="E6EDF3"/>
                </a:solidFill>
                <a:latin typeface="Space Grotesk"/>
              </a:rPr>
              <a:t> sourced — with a confidence bar per factor.</a:t>
            </a:r>
          </a:p>
        </p:txBody>
      </p:sp>
      <p:sp>
        <p:nvSpPr>
          <p:cNvPr id="5" name="Rounded Rectangle 4"/>
          <p:cNvSpPr/>
          <p:nvPr/>
        </p:nvSpPr>
        <p:spPr>
          <a:xfrm>
            <a:off x="6278727" y="2103120"/>
            <a:ext cx="5090007" cy="155448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HONEST BY DEFAULT</a:t>
            </a:r>
          </a:p>
          <a:p>
            <a:pPr>
              <a:lnSpc>
                <a:spcPct val="112000"/>
              </a:lnSpc>
            </a:pPr>
            <a:r>
              <a:rPr sz="1600" b="0" i="0">
                <a:solidFill>
                  <a:srgbClr val="E6EDF3"/>
                </a:solidFill>
                <a:latin typeface="Space Grotesk"/>
              </a:rPr>
              <a:t>"This is probably an underestimate" — we say what's excluded.</a:t>
            </a:r>
          </a:p>
        </p:txBody>
      </p:sp>
      <p:sp>
        <p:nvSpPr>
          <p:cNvPr id="6" name="TextBox 5"/>
          <p:cNvSpPr txBox="1"/>
          <p:nvPr/>
        </p:nvSpPr>
        <p:spPr>
          <a:xfrm>
            <a:off x="822960" y="411480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Reserved impact-colour (neutral scenario tiers)  ·  WCAG 2.1 AA  ·  ARIA radio-groups + live regions.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822960" y="2468880"/>
            <a:ext cx="2098548" cy="457200"/>
          </a:xfrm>
          <a:prstGeom prst="roundRect">
            <a:avLst>
              <a:gd name="adj" fmla="val 50000"/>
            </a:avLst>
          </a:prstGeom>
          <a:solidFill>
            <a:srgbClr val="122D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i="0">
                <a:solidFill>
                  <a:srgbClr val="3FB950"/>
                </a:solidFill>
                <a:latin typeface="Space Mono"/>
              </a:rPr>
              <a:t>PILLAR II</a:t>
            </a:r>
          </a:p>
        </p:txBody>
      </p:sp>
      <p:sp>
        <p:nvSpPr>
          <p:cNvPr id="3" name="TextBox 2"/>
          <p:cNvSpPr txBox="1"/>
          <p:nvPr/>
        </p:nvSpPr>
        <p:spPr>
          <a:xfrm>
            <a:off x="822960" y="3154680"/>
            <a:ext cx="10545775" cy="1463040"/>
          </a:xfrm>
          <a:prstGeom prst="rect">
            <a:avLst/>
          </a:prstGeom>
          <a:noFill/>
        </p:spPr>
        <p:txBody>
          <a:bodyPr wrap="square" anchor="t">
            <a:spAutoFit/>
          </a:bodyPr>
          <a:lstStyle/>
          <a:p>
            <a:pPr algn="l">
              <a:lnSpc>
                <a:spcPct val="100000"/>
              </a:lnSpc>
            </a:pPr>
            <a:r>
              <a:rPr sz="4800" b="1" i="0">
                <a:solidFill>
                  <a:srgbClr val="E6EDF3"/>
                </a:solidFill>
                <a:latin typeface="Space Grotesk"/>
              </a:rPr>
              <a:t>The bases: the math &amp; the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COMPUTECARBON()</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The chain, as a ledger</a:t>
            </a:r>
          </a:p>
        </p:txBody>
      </p:sp>
      <p:sp>
        <p:nvSpPr>
          <p:cNvPr id="4" name="Rounded Rectangle 3"/>
          <p:cNvSpPr/>
          <p:nvPr/>
        </p:nvSpPr>
        <p:spPr>
          <a:xfrm>
            <a:off x="822960" y="1920240"/>
            <a:ext cx="10545775" cy="3218688"/>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6538380" cy="475488"/>
          </a:xfrm>
          <a:prstGeom prst="rect">
            <a:avLst/>
          </a:prstGeom>
          <a:noFill/>
        </p:spPr>
        <p:txBody>
          <a:bodyPr wrap="square" anchor="ctr">
            <a:spAutoFit/>
          </a:bodyPr>
          <a:lstStyle/>
          <a:p>
            <a:r>
              <a:rPr sz="1300" b="0" i="0">
                <a:solidFill>
                  <a:srgbClr val="E6EDF3"/>
                </a:solidFill>
                <a:latin typeface="Space Mono"/>
              </a:rPr>
              <a:t>raw energy = inTok·in_kWh/kTok + outTok·out_kWh/kTok</a:t>
            </a:r>
          </a:p>
        </p:txBody>
      </p:sp>
      <p:sp>
        <p:nvSpPr>
          <p:cNvPr id="6" name="TextBox 5"/>
          <p:cNvSpPr txBox="1"/>
          <p:nvPr/>
        </p:nvSpPr>
        <p:spPr>
          <a:xfrm>
            <a:off x="7361340" y="2103120"/>
            <a:ext cx="3824514" cy="475488"/>
          </a:xfrm>
          <a:prstGeom prst="rect">
            <a:avLst/>
          </a:prstGeom>
          <a:noFill/>
        </p:spPr>
        <p:txBody>
          <a:bodyPr wrap="square" anchor="ctr">
            <a:spAutoFit/>
          </a:bodyPr>
          <a:lstStyle/>
          <a:p>
            <a:pPr algn="r"/>
            <a:r>
              <a:rPr sz="1400" b="0" i="0">
                <a:solidFill>
                  <a:srgbClr val="3FB950"/>
                </a:solidFill>
                <a:latin typeface="Space Mono"/>
              </a:rPr>
              <a:t>kWh</a:t>
            </a:r>
          </a:p>
        </p:txBody>
      </p:sp>
      <p:sp>
        <p:nvSpPr>
          <p:cNvPr id="7" name="TextBox 6"/>
          <p:cNvSpPr txBox="1"/>
          <p:nvPr/>
        </p:nvSpPr>
        <p:spPr>
          <a:xfrm>
            <a:off x="1005840" y="2578608"/>
            <a:ext cx="6538380" cy="475488"/>
          </a:xfrm>
          <a:prstGeom prst="rect">
            <a:avLst/>
          </a:prstGeom>
          <a:noFill/>
        </p:spPr>
        <p:txBody>
          <a:bodyPr wrap="square" anchor="ctr">
            <a:spAutoFit/>
          </a:bodyPr>
          <a:lstStyle/>
          <a:p>
            <a:r>
              <a:rPr sz="1400" b="0" i="0">
                <a:solidFill>
                  <a:srgbClr val="E6EDF3"/>
                </a:solidFill>
                <a:latin typeface="Space Mono"/>
              </a:rPr>
              <a:t>÷ utilisation</a:t>
            </a:r>
          </a:p>
        </p:txBody>
      </p:sp>
      <p:sp>
        <p:nvSpPr>
          <p:cNvPr id="8" name="TextBox 7"/>
          <p:cNvSpPr txBox="1"/>
          <p:nvPr/>
        </p:nvSpPr>
        <p:spPr>
          <a:xfrm>
            <a:off x="7361340" y="2578608"/>
            <a:ext cx="3824514" cy="475488"/>
          </a:xfrm>
          <a:prstGeom prst="rect">
            <a:avLst/>
          </a:prstGeom>
          <a:noFill/>
        </p:spPr>
        <p:txBody>
          <a:bodyPr wrap="square" anchor="ctr">
            <a:spAutoFit/>
          </a:bodyPr>
          <a:lstStyle/>
          <a:p>
            <a:pPr algn="r"/>
            <a:r>
              <a:rPr sz="1400" b="0" i="0">
                <a:solidFill>
                  <a:srgbClr val="3FB950"/>
                </a:solidFill>
                <a:latin typeface="Space Mono"/>
              </a:rPr>
              <a:t>kWh</a:t>
            </a:r>
          </a:p>
        </p:txBody>
      </p:sp>
      <p:sp>
        <p:nvSpPr>
          <p:cNvPr id="9" name="TextBox 8"/>
          <p:cNvSpPr txBox="1"/>
          <p:nvPr/>
        </p:nvSpPr>
        <p:spPr>
          <a:xfrm>
            <a:off x="1005840" y="3054096"/>
            <a:ext cx="6538380" cy="475488"/>
          </a:xfrm>
          <a:prstGeom prst="rect">
            <a:avLst/>
          </a:prstGeom>
          <a:noFill/>
        </p:spPr>
        <p:txBody>
          <a:bodyPr wrap="square" anchor="ctr">
            <a:spAutoFit/>
          </a:bodyPr>
          <a:lstStyle/>
          <a:p>
            <a:r>
              <a:rPr sz="1400" b="0" i="0">
                <a:solidFill>
                  <a:srgbClr val="E6EDF3"/>
                </a:solidFill>
                <a:latin typeface="Space Mono"/>
              </a:rPr>
              <a:t>× PUE</a:t>
            </a:r>
          </a:p>
        </p:txBody>
      </p:sp>
      <p:sp>
        <p:nvSpPr>
          <p:cNvPr id="10" name="TextBox 9"/>
          <p:cNvSpPr txBox="1"/>
          <p:nvPr/>
        </p:nvSpPr>
        <p:spPr>
          <a:xfrm>
            <a:off x="7361340" y="3054096"/>
            <a:ext cx="3824514" cy="475488"/>
          </a:xfrm>
          <a:prstGeom prst="rect">
            <a:avLst/>
          </a:prstGeom>
          <a:noFill/>
        </p:spPr>
        <p:txBody>
          <a:bodyPr wrap="square" anchor="ctr">
            <a:spAutoFit/>
          </a:bodyPr>
          <a:lstStyle/>
          <a:p>
            <a:pPr algn="r"/>
            <a:r>
              <a:rPr sz="1400" b="0" i="0">
                <a:solidFill>
                  <a:srgbClr val="3FB950"/>
                </a:solidFill>
                <a:latin typeface="Space Mono"/>
              </a:rPr>
              <a:t>kWh</a:t>
            </a:r>
          </a:p>
        </p:txBody>
      </p:sp>
      <p:sp>
        <p:nvSpPr>
          <p:cNvPr id="11" name="TextBox 10"/>
          <p:cNvSpPr txBox="1"/>
          <p:nvPr/>
        </p:nvSpPr>
        <p:spPr>
          <a:xfrm>
            <a:off x="1005840" y="3529584"/>
            <a:ext cx="6538380" cy="475488"/>
          </a:xfrm>
          <a:prstGeom prst="rect">
            <a:avLst/>
          </a:prstGeom>
          <a:noFill/>
        </p:spPr>
        <p:txBody>
          <a:bodyPr wrap="square" anchor="ctr">
            <a:spAutoFit/>
          </a:bodyPr>
          <a:lstStyle/>
          <a:p>
            <a:r>
              <a:rPr sz="1400" b="0" i="0">
                <a:solidFill>
                  <a:srgbClr val="E6EDF3"/>
                </a:solidFill>
                <a:latin typeface="Space Mono"/>
              </a:rPr>
              <a:t>× grid g/kWh</a:t>
            </a:r>
          </a:p>
        </p:txBody>
      </p:sp>
      <p:sp>
        <p:nvSpPr>
          <p:cNvPr id="12" name="TextBox 11"/>
          <p:cNvSpPr txBox="1"/>
          <p:nvPr/>
        </p:nvSpPr>
        <p:spPr>
          <a:xfrm>
            <a:off x="7361340" y="3529584"/>
            <a:ext cx="3824514" cy="475488"/>
          </a:xfrm>
          <a:prstGeom prst="rect">
            <a:avLst/>
          </a:prstGeom>
          <a:noFill/>
        </p:spPr>
        <p:txBody>
          <a:bodyPr wrap="square" anchor="ctr">
            <a:spAutoFit/>
          </a:bodyPr>
          <a:lstStyle/>
          <a:p>
            <a:pPr algn="r"/>
            <a:r>
              <a:rPr sz="1400" b="0" i="0">
                <a:solidFill>
                  <a:srgbClr val="3FB950"/>
                </a:solidFill>
                <a:latin typeface="Space Mono"/>
              </a:rPr>
              <a:t>operational kg</a:t>
            </a:r>
          </a:p>
        </p:txBody>
      </p:sp>
      <p:sp>
        <p:nvSpPr>
          <p:cNvPr id="13" name="TextBox 12"/>
          <p:cNvSpPr txBox="1"/>
          <p:nvPr/>
        </p:nvSpPr>
        <p:spPr>
          <a:xfrm>
            <a:off x="1005840" y="4005072"/>
            <a:ext cx="6538380" cy="475488"/>
          </a:xfrm>
          <a:prstGeom prst="rect">
            <a:avLst/>
          </a:prstGeom>
          <a:noFill/>
        </p:spPr>
        <p:txBody>
          <a:bodyPr wrap="square" anchor="ctr">
            <a:spAutoFit/>
          </a:bodyPr>
          <a:lstStyle/>
          <a:p>
            <a:r>
              <a:rPr sz="1400" b="0" i="0">
                <a:solidFill>
                  <a:srgbClr val="E6EDF3"/>
                </a:solidFill>
                <a:latin typeface="Space Mono"/>
              </a:rPr>
              <a:t>+ embodied  (GPU manufacture, amortised)</a:t>
            </a:r>
          </a:p>
        </p:txBody>
      </p:sp>
      <p:sp>
        <p:nvSpPr>
          <p:cNvPr id="14" name="TextBox 13"/>
          <p:cNvSpPr txBox="1"/>
          <p:nvPr/>
        </p:nvSpPr>
        <p:spPr>
          <a:xfrm>
            <a:off x="7361340" y="4005072"/>
            <a:ext cx="3824514" cy="475488"/>
          </a:xfrm>
          <a:prstGeom prst="rect">
            <a:avLst/>
          </a:prstGeom>
          <a:noFill/>
        </p:spPr>
        <p:txBody>
          <a:bodyPr wrap="square" anchor="ctr">
            <a:spAutoFit/>
          </a:bodyPr>
          <a:lstStyle/>
          <a:p>
            <a:pPr algn="r"/>
            <a:r>
              <a:rPr sz="1400" b="0" i="0">
                <a:solidFill>
                  <a:srgbClr val="3FB950"/>
                </a:solidFill>
                <a:latin typeface="Space Mono"/>
              </a:rPr>
              <a:t>kg</a:t>
            </a:r>
          </a:p>
        </p:txBody>
      </p:sp>
      <p:sp>
        <p:nvSpPr>
          <p:cNvPr id="15" name="TextBox 14"/>
          <p:cNvSpPr txBox="1"/>
          <p:nvPr/>
        </p:nvSpPr>
        <p:spPr>
          <a:xfrm>
            <a:off x="1005840" y="4480560"/>
            <a:ext cx="6538380" cy="475488"/>
          </a:xfrm>
          <a:prstGeom prst="rect">
            <a:avLst/>
          </a:prstGeom>
          <a:noFill/>
        </p:spPr>
        <p:txBody>
          <a:bodyPr wrap="square" anchor="ctr">
            <a:spAutoFit/>
          </a:bodyPr>
          <a:lstStyle/>
          <a:p>
            <a:r>
              <a:rPr sz="1400" b="1" i="0">
                <a:solidFill>
                  <a:srgbClr val="E6EDF3"/>
                </a:solidFill>
                <a:latin typeface="Space Mono"/>
              </a:rPr>
              <a:t>= total kg CO₂</a:t>
            </a:r>
          </a:p>
        </p:txBody>
      </p:sp>
      <p:sp>
        <p:nvSpPr>
          <p:cNvPr id="16" name="TextBox 15"/>
          <p:cNvSpPr txBox="1"/>
          <p:nvPr/>
        </p:nvSpPr>
        <p:spPr>
          <a:xfrm>
            <a:off x="7361340" y="4480560"/>
            <a:ext cx="3824514" cy="475488"/>
          </a:xfrm>
          <a:prstGeom prst="rect">
            <a:avLst/>
          </a:prstGeom>
          <a:noFill/>
        </p:spPr>
        <p:txBody>
          <a:bodyPr wrap="square" anchor="ctr">
            <a:spAutoFit/>
          </a:bodyPr>
          <a:lstStyle/>
          <a:p>
            <a:pPr algn="r"/>
            <a:r>
              <a:rPr sz="1400" b="0" i="0">
                <a:solidFill>
                  <a:srgbClr val="3FB950"/>
                </a:solidFill>
                <a:latin typeface="Space Mono"/>
              </a:rPr>
              <a:t>total</a:t>
            </a:r>
          </a:p>
        </p:txBody>
      </p:sp>
      <p:sp>
        <p:nvSpPr>
          <p:cNvPr id="17" name="TextBox 16"/>
          <p:cNvSpPr txBox="1"/>
          <p:nvPr/>
        </p:nvSpPr>
        <p:spPr>
          <a:xfrm>
            <a:off x="822960" y="5897880"/>
            <a:ext cx="10545775" cy="640080"/>
          </a:xfrm>
          <a:prstGeom prst="rect">
            <a:avLst/>
          </a:prstGeom>
          <a:noFill/>
        </p:spPr>
        <p:txBody>
          <a:bodyPr wrap="square" anchor="t">
            <a:spAutoFit/>
          </a:bodyPr>
          <a:lstStyle/>
          <a:p>
            <a:pPr algn="l">
              <a:lnSpc>
                <a:spcPct val="110000"/>
              </a:lnSpc>
            </a:pPr>
            <a:r>
              <a:rPr sz="1300" b="0" i="0">
                <a:solidFill>
                  <a:srgbClr val="B1BAC4"/>
                </a:solidFill>
                <a:latin typeface="Space Mono"/>
              </a:rPr>
              <a:t>One pure function. The on-screen "calculation trace" renders exactly these rows.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MODEL_SPECS · KWH PER 1K TOKENS</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Output costs ~5× input</a:t>
            </a:r>
          </a:p>
        </p:txBody>
      </p:sp>
      <p:sp>
        <p:nvSpPr>
          <p:cNvPr id="4" name="Rounded Rectangle 3"/>
          <p:cNvSpPr/>
          <p:nvPr/>
        </p:nvSpPr>
        <p:spPr>
          <a:xfrm>
            <a:off x="822960" y="1920240"/>
            <a:ext cx="10545775" cy="1792224"/>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5272887" cy="475488"/>
          </a:xfrm>
          <a:prstGeom prst="rect">
            <a:avLst/>
          </a:prstGeom>
          <a:noFill/>
        </p:spPr>
        <p:txBody>
          <a:bodyPr wrap="square" anchor="ctr">
            <a:spAutoFit/>
          </a:bodyPr>
          <a:lstStyle/>
          <a:p>
            <a:r>
              <a:rPr sz="1500" b="0" i="0">
                <a:solidFill>
                  <a:srgbClr val="E6EDF3"/>
                </a:solidFill>
                <a:latin typeface="Space Mono"/>
              </a:rPr>
              <a:t>Claude Haiku</a:t>
            </a:r>
          </a:p>
        </p:txBody>
      </p:sp>
      <p:sp>
        <p:nvSpPr>
          <p:cNvPr id="6" name="TextBox 5"/>
          <p:cNvSpPr txBox="1"/>
          <p:nvPr/>
        </p:nvSpPr>
        <p:spPr>
          <a:xfrm>
            <a:off x="6095847" y="2103120"/>
            <a:ext cx="5090007" cy="475488"/>
          </a:xfrm>
          <a:prstGeom prst="rect">
            <a:avLst/>
          </a:prstGeom>
          <a:noFill/>
        </p:spPr>
        <p:txBody>
          <a:bodyPr wrap="square" anchor="ctr">
            <a:spAutoFit/>
          </a:bodyPr>
          <a:lstStyle/>
          <a:p>
            <a:pPr algn="r"/>
            <a:r>
              <a:rPr sz="1500" b="0" i="0">
                <a:solidFill>
                  <a:srgbClr val="79B8FF"/>
                </a:solidFill>
                <a:latin typeface="Space Mono"/>
              </a:rPr>
              <a:t>in 0.000090</a:t>
            </a:r>
            <a:r>
              <a:rPr sz="1500" b="0" i="0">
                <a:solidFill>
                  <a:srgbClr val="B1BAC4"/>
                </a:solidFill>
                <a:latin typeface="Space Mono"/>
              </a:rPr>
              <a:t>  ·  </a:t>
            </a:r>
            <a:r>
              <a:rPr sz="1500" b="0" i="0">
                <a:solidFill>
                  <a:srgbClr val="BC8CFF"/>
                </a:solidFill>
                <a:latin typeface="Space Mono"/>
              </a:rPr>
              <a:t>out 0.000450</a:t>
            </a:r>
          </a:p>
        </p:txBody>
      </p:sp>
      <p:sp>
        <p:nvSpPr>
          <p:cNvPr id="7" name="TextBox 6"/>
          <p:cNvSpPr txBox="1"/>
          <p:nvPr/>
        </p:nvSpPr>
        <p:spPr>
          <a:xfrm>
            <a:off x="1005840" y="2578608"/>
            <a:ext cx="5272887" cy="475488"/>
          </a:xfrm>
          <a:prstGeom prst="rect">
            <a:avLst/>
          </a:prstGeom>
          <a:noFill/>
        </p:spPr>
        <p:txBody>
          <a:bodyPr wrap="square" anchor="ctr">
            <a:spAutoFit/>
          </a:bodyPr>
          <a:lstStyle/>
          <a:p>
            <a:r>
              <a:rPr sz="1500" b="0" i="0">
                <a:solidFill>
                  <a:srgbClr val="E6EDF3"/>
                </a:solidFill>
                <a:latin typeface="Space Mono"/>
              </a:rPr>
              <a:t>Claude Sonnet</a:t>
            </a:r>
          </a:p>
        </p:txBody>
      </p:sp>
      <p:sp>
        <p:nvSpPr>
          <p:cNvPr id="8" name="TextBox 7"/>
          <p:cNvSpPr txBox="1"/>
          <p:nvPr/>
        </p:nvSpPr>
        <p:spPr>
          <a:xfrm>
            <a:off x="6095847" y="2578608"/>
            <a:ext cx="5090007" cy="475488"/>
          </a:xfrm>
          <a:prstGeom prst="rect">
            <a:avLst/>
          </a:prstGeom>
          <a:noFill/>
        </p:spPr>
        <p:txBody>
          <a:bodyPr wrap="square" anchor="ctr">
            <a:spAutoFit/>
          </a:bodyPr>
          <a:lstStyle/>
          <a:p>
            <a:pPr algn="r"/>
            <a:r>
              <a:rPr sz="1500" b="0" i="0">
                <a:solidFill>
                  <a:srgbClr val="79B8FF"/>
                </a:solidFill>
                <a:latin typeface="Space Mono"/>
              </a:rPr>
              <a:t>in 0.000390</a:t>
            </a:r>
            <a:r>
              <a:rPr sz="1500" b="0" i="0">
                <a:solidFill>
                  <a:srgbClr val="B1BAC4"/>
                </a:solidFill>
                <a:latin typeface="Space Mono"/>
              </a:rPr>
              <a:t>  ·  </a:t>
            </a:r>
            <a:r>
              <a:rPr sz="1500" b="0" i="0">
                <a:solidFill>
                  <a:srgbClr val="BC8CFF"/>
                </a:solidFill>
                <a:latin typeface="Space Mono"/>
              </a:rPr>
              <a:t>out 0.001950</a:t>
            </a:r>
          </a:p>
        </p:txBody>
      </p:sp>
      <p:sp>
        <p:nvSpPr>
          <p:cNvPr id="9" name="TextBox 8"/>
          <p:cNvSpPr txBox="1"/>
          <p:nvPr/>
        </p:nvSpPr>
        <p:spPr>
          <a:xfrm>
            <a:off x="1005840" y="3054096"/>
            <a:ext cx="5272887" cy="475488"/>
          </a:xfrm>
          <a:prstGeom prst="rect">
            <a:avLst/>
          </a:prstGeom>
          <a:noFill/>
        </p:spPr>
        <p:txBody>
          <a:bodyPr wrap="square" anchor="ctr">
            <a:spAutoFit/>
          </a:bodyPr>
          <a:lstStyle/>
          <a:p>
            <a:r>
              <a:rPr sz="1500" b="0" i="0">
                <a:solidFill>
                  <a:srgbClr val="E6EDF3"/>
                </a:solidFill>
                <a:latin typeface="Space Mono"/>
              </a:rPr>
              <a:t>Claude Opus</a:t>
            </a:r>
          </a:p>
        </p:txBody>
      </p:sp>
      <p:sp>
        <p:nvSpPr>
          <p:cNvPr id="10" name="TextBox 9"/>
          <p:cNvSpPr txBox="1"/>
          <p:nvPr/>
        </p:nvSpPr>
        <p:spPr>
          <a:xfrm>
            <a:off x="6095847" y="3054096"/>
            <a:ext cx="5090007" cy="475488"/>
          </a:xfrm>
          <a:prstGeom prst="rect">
            <a:avLst/>
          </a:prstGeom>
          <a:noFill/>
        </p:spPr>
        <p:txBody>
          <a:bodyPr wrap="square" anchor="ctr">
            <a:spAutoFit/>
          </a:bodyPr>
          <a:lstStyle/>
          <a:p>
            <a:pPr algn="r"/>
            <a:r>
              <a:rPr sz="1500" b="0" i="0">
                <a:solidFill>
                  <a:srgbClr val="79B8FF"/>
                </a:solidFill>
                <a:latin typeface="Space Mono"/>
              </a:rPr>
              <a:t>in 0.000780</a:t>
            </a:r>
            <a:r>
              <a:rPr sz="1500" b="0" i="0">
                <a:solidFill>
                  <a:srgbClr val="B1BAC4"/>
                </a:solidFill>
                <a:latin typeface="Space Mono"/>
              </a:rPr>
              <a:t>  ·  </a:t>
            </a:r>
            <a:r>
              <a:rPr sz="1500" b="0" i="0">
                <a:solidFill>
                  <a:srgbClr val="BC8CFF"/>
                </a:solidFill>
                <a:latin typeface="Space Mono"/>
              </a:rPr>
              <a:t>out 0.003900</a:t>
            </a:r>
          </a:p>
        </p:txBody>
      </p:sp>
      <p:sp>
        <p:nvSpPr>
          <p:cNvPr id="11" name="TextBox 10"/>
          <p:cNvSpPr txBox="1"/>
          <p:nvPr/>
        </p:nvSpPr>
        <p:spPr>
          <a:xfrm>
            <a:off x="822960" y="3977639"/>
            <a:ext cx="10545775" cy="457200"/>
          </a:xfrm>
          <a:prstGeom prst="rect">
            <a:avLst/>
          </a:prstGeom>
          <a:noFill/>
        </p:spPr>
        <p:txBody>
          <a:bodyPr wrap="square" anchor="t">
            <a:spAutoFit/>
          </a:bodyPr>
          <a:lstStyle/>
          <a:p>
            <a:pPr algn="l"/>
            <a:r>
              <a:rPr sz="1600" b="0" i="0">
                <a:solidFill>
                  <a:srgbClr val="79B8FF"/>
                </a:solidFill>
                <a:latin typeface="Space Grotesk"/>
              </a:rPr>
              <a:t>■ input</a:t>
            </a:r>
            <a:r>
              <a:rPr sz="1600" b="0" i="0">
                <a:solidFill>
                  <a:srgbClr val="B1BAC4"/>
                </a:solidFill>
                <a:latin typeface="Space Grotesk"/>
              </a:rPr>
              <a:t> — cheap, parallel    </a:t>
            </a:r>
            <a:r>
              <a:rPr sz="1600" b="0" i="0">
                <a:solidFill>
                  <a:srgbClr val="BC8CFF"/>
                </a:solidFill>
                <a:latin typeface="Space Grotesk"/>
              </a:rPr>
              <a:t>■ output</a:t>
            </a:r>
            <a:r>
              <a:rPr sz="1600" b="0" i="0">
                <a:solidFill>
                  <a:srgbClr val="B1BAC4"/>
                </a:solidFill>
                <a:latin typeface="Space Grotesk"/>
              </a:rPr>
              <a:t> — generated one token at a time, ~5× costlier</a:t>
            </a:r>
          </a:p>
        </p:txBody>
      </p:sp>
      <p:sp>
        <p:nvSpPr>
          <p:cNvPr id="12" name="TextBox 11"/>
          <p:cNvSpPr txBox="1"/>
          <p:nvPr/>
        </p:nvSpPr>
        <p:spPr>
          <a:xfrm>
            <a:off x="822960" y="5897880"/>
            <a:ext cx="10545775" cy="640080"/>
          </a:xfrm>
          <a:prstGeom prst="rect">
            <a:avLst/>
          </a:prstGeom>
          <a:noFill/>
        </p:spPr>
        <p:txBody>
          <a:bodyPr wrap="square" anchor="t">
            <a:spAutoFit/>
          </a:bodyPr>
          <a:lstStyle/>
          <a:p>
            <a:pPr algn="l">
              <a:lnSpc>
                <a:spcPct val="110000"/>
              </a:lnSpc>
            </a:pPr>
            <a:r>
              <a:rPr sz="1300" b="0" i="0">
                <a:solidFill>
                  <a:srgbClr val="B1BAC4"/>
                </a:solidFill>
                <a:latin typeface="Space Mono"/>
              </a:rPr>
              <a:t>Source: Epoch AI — "How much energy does ChatGPT use?" (Sonnet ≈ GPT-4o class).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GPU_SPECS · PUE · UTILISATION</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Where the watts leak</a:t>
            </a:r>
          </a:p>
        </p:txBody>
      </p:sp>
      <p:sp>
        <p:nvSpPr>
          <p:cNvPr id="4" name="Rounded Rectangle 3"/>
          <p:cNvSpPr/>
          <p:nvPr/>
        </p:nvSpPr>
        <p:spPr>
          <a:xfrm>
            <a:off x="822960" y="201168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GPU</a:t>
            </a:r>
          </a:p>
          <a:p>
            <a:pPr>
              <a:lnSpc>
                <a:spcPct val="112000"/>
              </a:lnSpc>
            </a:pPr>
            <a:r>
              <a:rPr sz="1600" b="0" i="0">
                <a:solidFill>
                  <a:srgbClr val="E6EDF3"/>
                </a:solidFill>
                <a:latin typeface="Space Grotesk"/>
              </a:rPr>
              <a:t>H100 700W  ·  A100 400W (SXM4) / 300W (PCIe)  ·  embodied 130–225 kg CO₂ per card</a:t>
            </a:r>
          </a:p>
        </p:txBody>
      </p:sp>
      <p:sp>
        <p:nvSpPr>
          <p:cNvPr id="5" name="Rounded Rectangle 4"/>
          <p:cNvSpPr/>
          <p:nvPr/>
        </p:nvSpPr>
        <p:spPr>
          <a:xfrm>
            <a:off x="822960" y="329184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PUE</a:t>
            </a:r>
          </a:p>
          <a:p>
            <a:pPr>
              <a:lnSpc>
                <a:spcPct val="112000"/>
              </a:lnSpc>
            </a:pPr>
            <a:r>
              <a:rPr sz="1600" b="0" i="0">
                <a:solidFill>
                  <a:srgbClr val="E6EDF3"/>
                </a:solidFill>
                <a:latin typeface="Space Grotesk"/>
              </a:rPr>
              <a:t>1.2 hyperscaler  ·  1.4 typical cloud  ·  2.0+ on-prem — multiplies IT energy by overhead</a:t>
            </a:r>
          </a:p>
        </p:txBody>
      </p:sp>
      <p:sp>
        <p:nvSpPr>
          <p:cNvPr id="6" name="Rounded Rectangle 5"/>
          <p:cNvSpPr/>
          <p:nvPr/>
        </p:nvSpPr>
        <p:spPr>
          <a:xfrm>
            <a:off x="822960" y="457200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UTILISATION</a:t>
            </a:r>
          </a:p>
          <a:p>
            <a:pPr>
              <a:lnSpc>
                <a:spcPct val="112000"/>
              </a:lnSpc>
            </a:pPr>
            <a:r>
              <a:rPr sz="1600" b="0" i="0">
                <a:solidFill>
                  <a:srgbClr val="E6EDF3"/>
                </a:solidFill>
                <a:latin typeface="Space Grotesk"/>
              </a:rPr>
              <a:t>energy per </a:t>
            </a:r>
            <a:r>
              <a:rPr sz="1600" b="0" i="1">
                <a:solidFill>
                  <a:srgbClr val="E6EDF3"/>
                </a:solidFill>
                <a:latin typeface="Space Grotesk"/>
              </a:rPr>
              <a:t>useful</a:t>
            </a:r>
            <a:r>
              <a:rPr sz="1600" b="0" i="0">
                <a:solidFill>
                  <a:srgbClr val="E6EDF3"/>
                </a:solidFill>
                <a:latin typeface="Space Grotesk"/>
              </a:rPr>
              <a:t> token scales as </a:t>
            </a:r>
            <a:r>
              <a:rPr sz="1600" b="1" i="0">
                <a:solidFill>
                  <a:srgbClr val="E6EDF3"/>
                </a:solidFill>
                <a:latin typeface="Space Grotesk"/>
              </a:rPr>
              <a:t>1 ÷ utilisation</a:t>
            </a:r>
            <a:r>
              <a:rPr sz="1600" b="0" i="0">
                <a:solidFill>
                  <a:srgbClr val="E6EDF3"/>
                </a:solidFill>
                <a:latin typeface="Space Grotesk"/>
              </a:rPr>
              <a:t> — idle silicon still burns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GRID_MAP · G CO₂ / KWH</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The grid often decides it</a:t>
            </a:r>
          </a:p>
        </p:txBody>
      </p:sp>
      <p:sp>
        <p:nvSpPr>
          <p:cNvPr id="4" name="Rounded Rectangle 3"/>
          <p:cNvSpPr/>
          <p:nvPr/>
        </p:nvSpPr>
        <p:spPr>
          <a:xfrm>
            <a:off x="822960" y="1920240"/>
            <a:ext cx="10545775" cy="2743200"/>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6538380" cy="475488"/>
          </a:xfrm>
          <a:prstGeom prst="rect">
            <a:avLst/>
          </a:prstGeom>
          <a:noFill/>
        </p:spPr>
        <p:txBody>
          <a:bodyPr wrap="square" anchor="ctr">
            <a:spAutoFit/>
          </a:bodyPr>
          <a:lstStyle/>
          <a:p>
            <a:r>
              <a:rPr sz="1500" b="0" i="0">
                <a:solidFill>
                  <a:srgbClr val="E6EDF3"/>
                </a:solidFill>
                <a:latin typeface="Space Mono"/>
              </a:rPr>
              <a:t>🇨🇦 Canada BC (hydro)</a:t>
            </a:r>
          </a:p>
        </p:txBody>
      </p:sp>
      <p:sp>
        <p:nvSpPr>
          <p:cNvPr id="6" name="TextBox 5"/>
          <p:cNvSpPr txBox="1"/>
          <p:nvPr/>
        </p:nvSpPr>
        <p:spPr>
          <a:xfrm>
            <a:off x="7361340" y="2103120"/>
            <a:ext cx="3824514" cy="475488"/>
          </a:xfrm>
          <a:prstGeom prst="rect">
            <a:avLst/>
          </a:prstGeom>
          <a:noFill/>
        </p:spPr>
        <p:txBody>
          <a:bodyPr wrap="square" anchor="ctr">
            <a:spAutoFit/>
          </a:bodyPr>
          <a:lstStyle/>
          <a:p>
            <a:pPr algn="r"/>
            <a:r>
              <a:rPr sz="1500" b="0" i="0">
                <a:solidFill>
                  <a:srgbClr val="3FB950"/>
                </a:solidFill>
                <a:latin typeface="Space Mono"/>
              </a:rPr>
              <a:t>15</a:t>
            </a:r>
          </a:p>
        </p:txBody>
      </p:sp>
      <p:sp>
        <p:nvSpPr>
          <p:cNvPr id="7" name="TextBox 6"/>
          <p:cNvSpPr txBox="1"/>
          <p:nvPr/>
        </p:nvSpPr>
        <p:spPr>
          <a:xfrm>
            <a:off x="1005840" y="2578608"/>
            <a:ext cx="6538380" cy="475488"/>
          </a:xfrm>
          <a:prstGeom prst="rect">
            <a:avLst/>
          </a:prstGeom>
          <a:noFill/>
        </p:spPr>
        <p:txBody>
          <a:bodyPr wrap="square" anchor="ctr">
            <a:spAutoFit/>
          </a:bodyPr>
          <a:lstStyle/>
          <a:p>
            <a:r>
              <a:rPr sz="1500" b="0" i="0">
                <a:solidFill>
                  <a:srgbClr val="E6EDF3"/>
                </a:solidFill>
                <a:latin typeface="Space Mono"/>
              </a:rPr>
              <a:t>🇫🇷 France (nuclear)</a:t>
            </a:r>
          </a:p>
        </p:txBody>
      </p:sp>
      <p:sp>
        <p:nvSpPr>
          <p:cNvPr id="8" name="TextBox 7"/>
          <p:cNvSpPr txBox="1"/>
          <p:nvPr/>
        </p:nvSpPr>
        <p:spPr>
          <a:xfrm>
            <a:off x="7361340" y="2578608"/>
            <a:ext cx="3824514" cy="475488"/>
          </a:xfrm>
          <a:prstGeom prst="rect">
            <a:avLst/>
          </a:prstGeom>
          <a:noFill/>
        </p:spPr>
        <p:txBody>
          <a:bodyPr wrap="square" anchor="ctr">
            <a:spAutoFit/>
          </a:bodyPr>
          <a:lstStyle/>
          <a:p>
            <a:pPr algn="r"/>
            <a:r>
              <a:rPr sz="1500" b="0" i="0">
                <a:solidFill>
                  <a:srgbClr val="3FB950"/>
                </a:solidFill>
                <a:latin typeface="Space Mono"/>
              </a:rPr>
              <a:t>60</a:t>
            </a:r>
          </a:p>
        </p:txBody>
      </p:sp>
      <p:sp>
        <p:nvSpPr>
          <p:cNvPr id="9" name="TextBox 8"/>
          <p:cNvSpPr txBox="1"/>
          <p:nvPr/>
        </p:nvSpPr>
        <p:spPr>
          <a:xfrm>
            <a:off x="1005840" y="3054096"/>
            <a:ext cx="6538380" cy="475488"/>
          </a:xfrm>
          <a:prstGeom prst="rect">
            <a:avLst/>
          </a:prstGeom>
          <a:noFill/>
        </p:spPr>
        <p:txBody>
          <a:bodyPr wrap="square" anchor="ctr">
            <a:spAutoFit/>
          </a:bodyPr>
          <a:lstStyle/>
          <a:p>
            <a:r>
              <a:rPr sz="1500" b="0" i="0">
                <a:solidFill>
                  <a:srgbClr val="E6EDF3"/>
                </a:solidFill>
                <a:latin typeface="Space Mono"/>
              </a:rPr>
              <a:t>🇧🇷 Brazil</a:t>
            </a:r>
          </a:p>
        </p:txBody>
      </p:sp>
      <p:sp>
        <p:nvSpPr>
          <p:cNvPr id="10" name="TextBox 9"/>
          <p:cNvSpPr txBox="1"/>
          <p:nvPr/>
        </p:nvSpPr>
        <p:spPr>
          <a:xfrm>
            <a:off x="7361340" y="3054096"/>
            <a:ext cx="3824514" cy="475488"/>
          </a:xfrm>
          <a:prstGeom prst="rect">
            <a:avLst/>
          </a:prstGeom>
          <a:noFill/>
        </p:spPr>
        <p:txBody>
          <a:bodyPr wrap="square" anchor="ctr">
            <a:spAutoFit/>
          </a:bodyPr>
          <a:lstStyle/>
          <a:p>
            <a:pPr algn="r"/>
            <a:r>
              <a:rPr sz="1500" b="0" i="0">
                <a:solidFill>
                  <a:srgbClr val="3FB950"/>
                </a:solidFill>
                <a:latin typeface="Space Mono"/>
              </a:rPr>
              <a:t>136</a:t>
            </a:r>
          </a:p>
        </p:txBody>
      </p:sp>
      <p:sp>
        <p:nvSpPr>
          <p:cNvPr id="11" name="TextBox 10"/>
          <p:cNvSpPr txBox="1"/>
          <p:nvPr/>
        </p:nvSpPr>
        <p:spPr>
          <a:xfrm>
            <a:off x="1005840" y="3529584"/>
            <a:ext cx="6538380" cy="475488"/>
          </a:xfrm>
          <a:prstGeom prst="rect">
            <a:avLst/>
          </a:prstGeom>
          <a:noFill/>
        </p:spPr>
        <p:txBody>
          <a:bodyPr wrap="square" anchor="ctr">
            <a:spAutoFit/>
          </a:bodyPr>
          <a:lstStyle/>
          <a:p>
            <a:r>
              <a:rPr sz="1500" b="0" i="0">
                <a:solidFill>
                  <a:srgbClr val="E6EDF3"/>
                </a:solidFill>
                <a:latin typeface="Space Mono"/>
              </a:rPr>
              <a:t>🇺🇸 US average</a:t>
            </a:r>
          </a:p>
        </p:txBody>
      </p:sp>
      <p:sp>
        <p:nvSpPr>
          <p:cNvPr id="12" name="TextBox 11"/>
          <p:cNvSpPr txBox="1"/>
          <p:nvPr/>
        </p:nvSpPr>
        <p:spPr>
          <a:xfrm>
            <a:off x="7361340" y="3529584"/>
            <a:ext cx="3824514" cy="475488"/>
          </a:xfrm>
          <a:prstGeom prst="rect">
            <a:avLst/>
          </a:prstGeom>
          <a:noFill/>
        </p:spPr>
        <p:txBody>
          <a:bodyPr wrap="square" anchor="ctr">
            <a:spAutoFit/>
          </a:bodyPr>
          <a:lstStyle/>
          <a:p>
            <a:pPr algn="r"/>
            <a:r>
              <a:rPr sz="1500" b="0" i="0">
                <a:solidFill>
                  <a:srgbClr val="3FB950"/>
                </a:solidFill>
                <a:latin typeface="Space Mono"/>
              </a:rPr>
              <a:t>400</a:t>
            </a:r>
          </a:p>
        </p:txBody>
      </p:sp>
      <p:sp>
        <p:nvSpPr>
          <p:cNvPr id="13" name="TextBox 12"/>
          <p:cNvSpPr txBox="1"/>
          <p:nvPr/>
        </p:nvSpPr>
        <p:spPr>
          <a:xfrm>
            <a:off x="1005840" y="4005072"/>
            <a:ext cx="6538380" cy="475488"/>
          </a:xfrm>
          <a:prstGeom prst="rect">
            <a:avLst/>
          </a:prstGeom>
          <a:noFill/>
        </p:spPr>
        <p:txBody>
          <a:bodyPr wrap="square" anchor="ctr">
            <a:spAutoFit/>
          </a:bodyPr>
          <a:lstStyle/>
          <a:p>
            <a:r>
              <a:rPr sz="1500" b="0" i="0">
                <a:solidFill>
                  <a:srgbClr val="E6EDF3"/>
                </a:solidFill>
                <a:latin typeface="Space Mono"/>
              </a:rPr>
              <a:t>🇵🇱 Poland (coal)</a:t>
            </a:r>
          </a:p>
        </p:txBody>
      </p:sp>
      <p:sp>
        <p:nvSpPr>
          <p:cNvPr id="14" name="TextBox 13"/>
          <p:cNvSpPr txBox="1"/>
          <p:nvPr/>
        </p:nvSpPr>
        <p:spPr>
          <a:xfrm>
            <a:off x="7361340" y="4005072"/>
            <a:ext cx="3824514" cy="475488"/>
          </a:xfrm>
          <a:prstGeom prst="rect">
            <a:avLst/>
          </a:prstGeom>
          <a:noFill/>
        </p:spPr>
        <p:txBody>
          <a:bodyPr wrap="square" anchor="ctr">
            <a:spAutoFit/>
          </a:bodyPr>
          <a:lstStyle/>
          <a:p>
            <a:pPr algn="r"/>
            <a:r>
              <a:rPr sz="1500" b="0" i="0">
                <a:solidFill>
                  <a:srgbClr val="3FB950"/>
                </a:solidFill>
                <a:latin typeface="Space Mono"/>
              </a:rPr>
              <a:t>700</a:t>
            </a:r>
          </a:p>
        </p:txBody>
      </p:sp>
      <p:sp>
        <p:nvSpPr>
          <p:cNvPr id="15" name="TextBox 14"/>
          <p:cNvSpPr txBox="1"/>
          <p:nvPr/>
        </p:nvSpPr>
        <p:spPr>
          <a:xfrm>
            <a:off x="822960" y="5897880"/>
            <a:ext cx="10545775" cy="640080"/>
          </a:xfrm>
          <a:prstGeom prst="rect">
            <a:avLst/>
          </a:prstGeom>
          <a:noFill/>
        </p:spPr>
        <p:txBody>
          <a:bodyPr wrap="square" anchor="t">
            <a:spAutoFit/>
          </a:bodyPr>
          <a:lstStyle/>
          <a:p>
            <a:pPr algn="l">
              <a:lnSpc>
                <a:spcPct val="110000"/>
              </a:lnSpc>
            </a:pPr>
            <a:r>
              <a:rPr sz="1500" b="0" i="0">
                <a:solidFill>
                  <a:srgbClr val="B1BAC4"/>
                </a:solidFill>
                <a:latin typeface="Space Grotesk"/>
              </a:rPr>
              <a:t>~47× spread, end to end. Insight fires when grid &gt; 150: "a cleaner grid (~50) would cut 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EMBODIED</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The carbon you already spent</a:t>
            </a:r>
          </a:p>
        </p:txBody>
      </p:sp>
      <p:sp>
        <p:nvSpPr>
          <p:cNvPr id="4" name="Rounded Rectangle 3"/>
          <p:cNvSpPr/>
          <p:nvPr/>
        </p:nvSpPr>
        <p:spPr>
          <a:xfrm>
            <a:off x="822960" y="2103120"/>
            <a:ext cx="10545775" cy="1280160"/>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64592"/>
          <a:lstStyle/>
          <a:p>
            <a:pPr algn="ctr">
              <a:lnSpc>
                <a:spcPct val="125000"/>
              </a:lnSpc>
            </a:pPr>
            <a:r>
              <a:rPr sz="1500" b="0" i="0">
                <a:solidFill>
                  <a:srgbClr val="E6EDF3"/>
                </a:solidFill>
                <a:latin typeface="Space Mono"/>
              </a:rPr>
              <a:t>embodied_kg = gpuCo2 / (gpuTok · gpuLife · 12) · tokens</a:t>
            </a:r>
          </a:p>
          <a:p>
            <a:pPr>
              <a:lnSpc>
                <a:spcPct val="125000"/>
              </a:lnSpc>
            </a:pPr>
            <a:r>
              <a:rPr sz="1400" b="0" i="0">
                <a:solidFill>
                  <a:srgbClr val="8B949E"/>
                </a:solidFill>
                <a:latin typeface="Space Mono"/>
              </a:rPr>
              <a:t>// e.g. 150 kg / (50M · 4yr · 12mo) · your tokens</a:t>
            </a:r>
          </a:p>
        </p:txBody>
      </p:sp>
      <p:sp>
        <p:nvSpPr>
          <p:cNvPr id="5" name="TextBox 4"/>
          <p:cNvSpPr txBox="1"/>
          <p:nvPr/>
        </p:nvSpPr>
        <p:spPr>
          <a:xfrm>
            <a:off x="822960" y="3749039"/>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Manufacturing CO₂ amortised over the GPU's lifetime token throughput. Small next to operational — but counted, because honesty.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TANGIBLE EQUIVALENTS</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From kg to something you feel</a:t>
            </a:r>
          </a:p>
        </p:txBody>
      </p:sp>
      <p:sp>
        <p:nvSpPr>
          <p:cNvPr id="4" name="TextBox 3"/>
          <p:cNvSpPr txBox="1"/>
          <p:nvPr/>
        </p:nvSpPr>
        <p:spPr>
          <a:xfrm>
            <a:off x="822960" y="2560320"/>
            <a:ext cx="3210458" cy="1097280"/>
          </a:xfrm>
          <a:prstGeom prst="rect">
            <a:avLst/>
          </a:prstGeom>
          <a:noFill/>
        </p:spPr>
        <p:txBody>
          <a:bodyPr wrap="square" anchor="t">
            <a:spAutoFit/>
          </a:bodyPr>
          <a:lstStyle/>
          <a:p>
            <a:pPr algn="ctr"/>
            <a:r>
              <a:rPr sz="4600" b="1" i="0">
                <a:solidFill>
                  <a:srgbClr val="FF9D3C"/>
                </a:solidFill>
                <a:latin typeface="Space Mono"/>
              </a:rPr>
              <a:t>6 km</a:t>
            </a:r>
          </a:p>
        </p:txBody>
      </p:sp>
      <p:sp>
        <p:nvSpPr>
          <p:cNvPr id="5" name="TextBox 4"/>
          <p:cNvSpPr txBox="1"/>
          <p:nvPr/>
        </p:nvSpPr>
        <p:spPr>
          <a:xfrm>
            <a:off x="822960" y="3794760"/>
            <a:ext cx="3210458" cy="731520"/>
          </a:xfrm>
          <a:prstGeom prst="rect">
            <a:avLst/>
          </a:prstGeom>
          <a:noFill/>
        </p:spPr>
        <p:txBody>
          <a:bodyPr wrap="square" anchor="t">
            <a:spAutoFit/>
          </a:bodyPr>
          <a:lstStyle/>
          <a:p>
            <a:pPr algn="ctr"/>
            <a:r>
              <a:rPr sz="1400" b="0" i="0">
                <a:solidFill>
                  <a:srgbClr val="B1BAC4"/>
                </a:solidFill>
                <a:latin typeface="Space Mono"/>
              </a:rPr>
              <a:t>driven per kg CO₂</a:t>
            </a:r>
          </a:p>
        </p:txBody>
      </p:sp>
      <p:sp>
        <p:nvSpPr>
          <p:cNvPr id="6" name="TextBox 5"/>
          <p:cNvSpPr txBox="1"/>
          <p:nvPr/>
        </p:nvSpPr>
        <p:spPr>
          <a:xfrm>
            <a:off x="4490618" y="2560320"/>
            <a:ext cx="3210458" cy="1097280"/>
          </a:xfrm>
          <a:prstGeom prst="rect">
            <a:avLst/>
          </a:prstGeom>
          <a:noFill/>
        </p:spPr>
        <p:txBody>
          <a:bodyPr wrap="square" anchor="t">
            <a:spAutoFit/>
          </a:bodyPr>
          <a:lstStyle/>
          <a:p>
            <a:pPr algn="ctr"/>
            <a:r>
              <a:rPr sz="4600" b="1" i="0">
                <a:solidFill>
                  <a:srgbClr val="2FD4C6"/>
                </a:solidFill>
                <a:latin typeface="Space Mono"/>
              </a:rPr>
              <a:t>22 kg</a:t>
            </a:r>
          </a:p>
        </p:txBody>
      </p:sp>
      <p:sp>
        <p:nvSpPr>
          <p:cNvPr id="7" name="TextBox 6"/>
          <p:cNvSpPr txBox="1"/>
          <p:nvPr/>
        </p:nvSpPr>
        <p:spPr>
          <a:xfrm>
            <a:off x="4490618" y="3794760"/>
            <a:ext cx="3210458" cy="731520"/>
          </a:xfrm>
          <a:prstGeom prst="rect">
            <a:avLst/>
          </a:prstGeom>
          <a:noFill/>
        </p:spPr>
        <p:txBody>
          <a:bodyPr wrap="square" anchor="t">
            <a:spAutoFit/>
          </a:bodyPr>
          <a:lstStyle/>
          <a:p>
            <a:pPr algn="ctr"/>
            <a:r>
              <a:rPr sz="1400" b="0" i="0">
                <a:solidFill>
                  <a:srgbClr val="B1BAC4"/>
                </a:solidFill>
                <a:latin typeface="Space Mono"/>
              </a:rPr>
              <a:t>absorbed / tree / year</a:t>
            </a:r>
          </a:p>
        </p:txBody>
      </p:sp>
      <p:sp>
        <p:nvSpPr>
          <p:cNvPr id="8" name="TextBox 7"/>
          <p:cNvSpPr txBox="1"/>
          <p:nvPr/>
        </p:nvSpPr>
        <p:spPr>
          <a:xfrm>
            <a:off x="8158276" y="2560320"/>
            <a:ext cx="3210458" cy="1097280"/>
          </a:xfrm>
          <a:prstGeom prst="rect">
            <a:avLst/>
          </a:prstGeom>
          <a:noFill/>
        </p:spPr>
        <p:txBody>
          <a:bodyPr wrap="square" anchor="t">
            <a:spAutoFit/>
          </a:bodyPr>
          <a:lstStyle/>
          <a:p>
            <a:pPr algn="ctr"/>
            <a:r>
              <a:rPr sz="4600" b="1" i="0">
                <a:solidFill>
                  <a:srgbClr val="FF8AD4"/>
                </a:solidFill>
                <a:latin typeface="Space Mono"/>
              </a:rPr>
              <a:t>$50</a:t>
            </a:r>
          </a:p>
        </p:txBody>
      </p:sp>
      <p:sp>
        <p:nvSpPr>
          <p:cNvPr id="9" name="TextBox 8"/>
          <p:cNvSpPr txBox="1"/>
          <p:nvPr/>
        </p:nvSpPr>
        <p:spPr>
          <a:xfrm>
            <a:off x="8158276" y="3794760"/>
            <a:ext cx="3210458" cy="731520"/>
          </a:xfrm>
          <a:prstGeom prst="rect">
            <a:avLst/>
          </a:prstGeom>
          <a:noFill/>
        </p:spPr>
        <p:txBody>
          <a:bodyPr wrap="square" anchor="t">
            <a:spAutoFit/>
          </a:bodyPr>
          <a:lstStyle/>
          <a:p>
            <a:pPr algn="ctr"/>
            <a:r>
              <a:rPr sz="1400" b="0" i="0">
                <a:solidFill>
                  <a:srgbClr val="B1BAC4"/>
                </a:solidFill>
                <a:latin typeface="Space Mono"/>
              </a:rPr>
              <a:t>social cost / tonne</a:t>
            </a:r>
          </a:p>
        </p:txBody>
      </p:sp>
      <p:sp>
        <p:nvSpPr>
          <p:cNvPr id="10" name="TextBox 9"/>
          <p:cNvSpPr txBox="1"/>
          <p:nvPr/>
        </p:nvSpPr>
        <p:spPr>
          <a:xfrm>
            <a:off x="822960" y="589788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Each equivalent gets its own accent colour — deliberately distinct from every semantic colour in the math.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CONFIDENCE &amp; WHAT'S EXCLUDED</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Say what you don't know</a:t>
            </a:r>
          </a:p>
        </p:txBody>
      </p:sp>
      <p:sp>
        <p:nvSpPr>
          <p:cNvPr id="4" name="TextBox 3"/>
          <p:cNvSpPr txBox="1"/>
          <p:nvPr/>
        </p:nvSpPr>
        <p:spPr>
          <a:xfrm>
            <a:off x="822960" y="2103120"/>
            <a:ext cx="10545775" cy="310896"/>
          </a:xfrm>
          <a:prstGeom prst="rect">
            <a:avLst/>
          </a:prstGeom>
          <a:noFill/>
        </p:spPr>
        <p:txBody>
          <a:bodyPr wrap="square" anchor="t">
            <a:spAutoFit/>
          </a:bodyPr>
          <a:lstStyle/>
          <a:p>
            <a:pPr algn="l"/>
            <a:r>
              <a:rPr sz="1500" b="0" i="0">
                <a:solidFill>
                  <a:srgbClr val="B1BAC4"/>
                </a:solidFill>
                <a:latin typeface="Space Mono"/>
              </a:rPr>
              <a:t>Energy per token</a:t>
            </a:r>
          </a:p>
        </p:txBody>
      </p:sp>
      <p:sp>
        <p:nvSpPr>
          <p:cNvPr id="5" name="TextBox 4"/>
          <p:cNvSpPr txBox="1"/>
          <p:nvPr/>
        </p:nvSpPr>
        <p:spPr>
          <a:xfrm>
            <a:off x="822960" y="2103120"/>
            <a:ext cx="10545775" cy="310896"/>
          </a:xfrm>
          <a:prstGeom prst="rect">
            <a:avLst/>
          </a:prstGeom>
          <a:noFill/>
        </p:spPr>
        <p:txBody>
          <a:bodyPr wrap="square" anchor="t">
            <a:spAutoFit/>
          </a:bodyPr>
          <a:lstStyle/>
          <a:p>
            <a:pPr algn="r"/>
            <a:r>
              <a:rPr sz="1500" b="0" i="0">
                <a:solidFill>
                  <a:srgbClr val="B1BAC4"/>
                </a:solidFill>
                <a:latin typeface="Space Mono"/>
              </a:rPr>
              <a:t>med</a:t>
            </a:r>
          </a:p>
        </p:txBody>
      </p:sp>
      <p:sp>
        <p:nvSpPr>
          <p:cNvPr id="6" name="Rounded Rectangle 5"/>
          <p:cNvSpPr/>
          <p:nvPr/>
        </p:nvSpPr>
        <p:spPr>
          <a:xfrm>
            <a:off x="822960" y="2468880"/>
            <a:ext cx="10545775" cy="201168"/>
          </a:xfrm>
          <a:prstGeom prst="roundRect">
            <a:avLst>
              <a:gd name="adj" fmla="val 50000"/>
            </a:avLst>
          </a:prstGeom>
          <a:solidFill>
            <a:srgbClr val="1C2330"/>
          </a:solidFill>
          <a:ln w="9525">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468880"/>
            <a:ext cx="6327465" cy="201168"/>
          </a:xfrm>
          <a:prstGeom prst="roundRect">
            <a:avLst>
              <a:gd name="adj" fmla="val 50000"/>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26080"/>
            <a:ext cx="10545775" cy="310896"/>
          </a:xfrm>
          <a:prstGeom prst="rect">
            <a:avLst/>
          </a:prstGeom>
          <a:noFill/>
        </p:spPr>
        <p:txBody>
          <a:bodyPr wrap="square" anchor="t">
            <a:spAutoFit/>
          </a:bodyPr>
          <a:lstStyle/>
          <a:p>
            <a:pPr algn="l"/>
            <a:r>
              <a:rPr sz="1500" b="0" i="0">
                <a:solidFill>
                  <a:srgbClr val="B1BAC4"/>
                </a:solidFill>
                <a:latin typeface="Space Mono"/>
              </a:rPr>
              <a:t>PUE (inferred, undisclosed)</a:t>
            </a:r>
          </a:p>
        </p:txBody>
      </p:sp>
      <p:sp>
        <p:nvSpPr>
          <p:cNvPr id="9" name="TextBox 8"/>
          <p:cNvSpPr txBox="1"/>
          <p:nvPr/>
        </p:nvSpPr>
        <p:spPr>
          <a:xfrm>
            <a:off x="822960" y="2926080"/>
            <a:ext cx="10545775" cy="310896"/>
          </a:xfrm>
          <a:prstGeom prst="rect">
            <a:avLst/>
          </a:prstGeom>
          <a:noFill/>
        </p:spPr>
        <p:txBody>
          <a:bodyPr wrap="square" anchor="t">
            <a:spAutoFit/>
          </a:bodyPr>
          <a:lstStyle/>
          <a:p>
            <a:pPr algn="r"/>
            <a:r>
              <a:rPr sz="1500" b="0" i="0">
                <a:solidFill>
                  <a:srgbClr val="B1BAC4"/>
                </a:solidFill>
                <a:latin typeface="Space Mono"/>
              </a:rPr>
              <a:t>low–med</a:t>
            </a:r>
          </a:p>
        </p:txBody>
      </p:sp>
      <p:sp>
        <p:nvSpPr>
          <p:cNvPr id="10" name="Rounded Rectangle 9"/>
          <p:cNvSpPr/>
          <p:nvPr/>
        </p:nvSpPr>
        <p:spPr>
          <a:xfrm>
            <a:off x="822960" y="3291840"/>
            <a:ext cx="10545775" cy="201168"/>
          </a:xfrm>
          <a:prstGeom prst="roundRect">
            <a:avLst>
              <a:gd name="adj" fmla="val 50000"/>
            </a:avLst>
          </a:prstGeom>
          <a:solidFill>
            <a:srgbClr val="1C2330"/>
          </a:solidFill>
          <a:ln w="9525">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3291840"/>
            <a:ext cx="5800176" cy="201168"/>
          </a:xfrm>
          <a:prstGeom prst="roundRect">
            <a:avLst>
              <a:gd name="adj" fmla="val 50000"/>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749039"/>
            <a:ext cx="10545775" cy="310896"/>
          </a:xfrm>
          <a:prstGeom prst="rect">
            <a:avLst/>
          </a:prstGeom>
          <a:noFill/>
        </p:spPr>
        <p:txBody>
          <a:bodyPr wrap="square" anchor="t">
            <a:spAutoFit/>
          </a:bodyPr>
          <a:lstStyle/>
          <a:p>
            <a:pPr algn="l"/>
            <a:r>
              <a:rPr sz="1500" b="0" i="0">
                <a:solidFill>
                  <a:srgbClr val="B1BAC4"/>
                </a:solidFill>
                <a:latin typeface="Space Mono"/>
              </a:rPr>
              <a:t>Grid intensity</a:t>
            </a:r>
          </a:p>
        </p:txBody>
      </p:sp>
      <p:sp>
        <p:nvSpPr>
          <p:cNvPr id="13" name="TextBox 12"/>
          <p:cNvSpPr txBox="1"/>
          <p:nvPr/>
        </p:nvSpPr>
        <p:spPr>
          <a:xfrm>
            <a:off x="822960" y="3749039"/>
            <a:ext cx="10545775" cy="310896"/>
          </a:xfrm>
          <a:prstGeom prst="rect">
            <a:avLst/>
          </a:prstGeom>
          <a:noFill/>
        </p:spPr>
        <p:txBody>
          <a:bodyPr wrap="square" anchor="t">
            <a:spAutoFit/>
          </a:bodyPr>
          <a:lstStyle/>
          <a:p>
            <a:pPr algn="r"/>
            <a:r>
              <a:rPr sz="1500" b="0" i="0">
                <a:solidFill>
                  <a:srgbClr val="B1BAC4"/>
                </a:solidFill>
                <a:latin typeface="Space Mono"/>
              </a:rPr>
              <a:t>high</a:t>
            </a:r>
          </a:p>
        </p:txBody>
      </p:sp>
      <p:sp>
        <p:nvSpPr>
          <p:cNvPr id="14" name="Rounded Rectangle 13"/>
          <p:cNvSpPr/>
          <p:nvPr/>
        </p:nvSpPr>
        <p:spPr>
          <a:xfrm>
            <a:off x="822960" y="4114799"/>
            <a:ext cx="10545775" cy="201168"/>
          </a:xfrm>
          <a:prstGeom prst="roundRect">
            <a:avLst>
              <a:gd name="adj" fmla="val 50000"/>
            </a:avLst>
          </a:prstGeom>
          <a:solidFill>
            <a:srgbClr val="1C2330"/>
          </a:solidFill>
          <a:ln w="9525">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4114799"/>
            <a:ext cx="8436620" cy="201168"/>
          </a:xfrm>
          <a:prstGeom prst="roundRect">
            <a:avLst>
              <a:gd name="adj" fmla="val 50000"/>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754880"/>
            <a:ext cx="10545775" cy="640080"/>
          </a:xfrm>
          <a:prstGeom prst="rect">
            <a:avLst/>
          </a:prstGeom>
          <a:noFill/>
        </p:spPr>
        <p:txBody>
          <a:bodyPr wrap="square" anchor="t">
            <a:spAutoFit/>
          </a:bodyPr>
          <a:lstStyle/>
          <a:p>
            <a:pPr algn="l">
              <a:lnSpc>
                <a:spcPct val="110000"/>
              </a:lnSpc>
            </a:pPr>
            <a:r>
              <a:rPr sz="1500" b="0" i="0">
                <a:solidFill>
                  <a:srgbClr val="B1BAC4"/>
                </a:solidFill>
                <a:latin typeface="Space Grotesk"/>
              </a:rPr>
              <a:t>Excluded: training amortisation · networking · cooling water · non-GPU embodied. computeCarbon is one pure function — the scenario tiers just call it with a different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822960" y="2468880"/>
            <a:ext cx="2240280" cy="457200"/>
          </a:xfrm>
          <a:prstGeom prst="roundRect">
            <a:avLst>
              <a:gd name="adj" fmla="val 50000"/>
            </a:avLst>
          </a:prstGeom>
          <a:solidFill>
            <a:srgbClr val="122D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i="0">
                <a:solidFill>
                  <a:srgbClr val="3FB950"/>
                </a:solidFill>
                <a:latin typeface="Space Mono"/>
              </a:rPr>
              <a:t>PILLAR III</a:t>
            </a:r>
          </a:p>
        </p:txBody>
      </p:sp>
      <p:sp>
        <p:nvSpPr>
          <p:cNvPr id="3" name="TextBox 2"/>
          <p:cNvSpPr txBox="1"/>
          <p:nvPr/>
        </p:nvSpPr>
        <p:spPr>
          <a:xfrm>
            <a:off x="822960" y="3154680"/>
            <a:ext cx="10545775" cy="1463040"/>
          </a:xfrm>
          <a:prstGeom prst="rect">
            <a:avLst/>
          </a:prstGeom>
          <a:noFill/>
        </p:spPr>
        <p:txBody>
          <a:bodyPr wrap="square" anchor="t">
            <a:spAutoFit/>
          </a:bodyPr>
          <a:lstStyle/>
          <a:p>
            <a:pPr algn="l">
              <a:lnSpc>
                <a:spcPct val="100000"/>
              </a:lnSpc>
            </a:pPr>
            <a:r>
              <a:rPr sz="4800" b="1" i="0">
                <a:solidFill>
                  <a:srgbClr val="E6EDF3"/>
                </a:solidFill>
                <a:latin typeface="Space Grotesk"/>
              </a:rPr>
              <a:t>The process of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WHERE IT LIVES</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Two targets, one source file</a:t>
            </a:r>
          </a:p>
        </p:txBody>
      </p:sp>
      <p:sp>
        <p:nvSpPr>
          <p:cNvPr id="4" name="Rounded Rectangle 3"/>
          <p:cNvSpPr/>
          <p:nvPr/>
        </p:nvSpPr>
        <p:spPr>
          <a:xfrm>
            <a:off x="822960" y="2103120"/>
            <a:ext cx="5090007" cy="17373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GITHUB PAGES</a:t>
            </a:r>
          </a:p>
          <a:p>
            <a:pPr>
              <a:lnSpc>
                <a:spcPct val="112000"/>
              </a:lnSpc>
            </a:pPr>
            <a:r>
              <a:rPr sz="1600" b="0" i="0">
                <a:solidFill>
                  <a:srgbClr val="E6EDF3"/>
                </a:solidFill>
                <a:latin typeface="Space Grotesk"/>
              </a:rPr>
              <a:t>public demo · serves index.html directly · /collect 404s, collection no-ops</a:t>
            </a:r>
          </a:p>
        </p:txBody>
      </p:sp>
      <p:sp>
        <p:nvSpPr>
          <p:cNvPr id="5" name="Rounded Rectangle 4"/>
          <p:cNvSpPr/>
          <p:nvPr/>
        </p:nvSpPr>
        <p:spPr>
          <a:xfrm>
            <a:off x="6278727" y="2103120"/>
            <a:ext cx="5090007" cy="17373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TELUS GIZMOS</a:t>
            </a:r>
          </a:p>
          <a:p>
            <a:pPr>
              <a:lnSpc>
                <a:spcPct val="112000"/>
              </a:lnSpc>
            </a:pPr>
            <a:r>
              <a:rPr sz="1600" b="0" i="0">
                <a:solidFill>
                  <a:srgbClr val="E6EDF3"/>
                </a:solidFill>
                <a:latin typeface="Space Grotesk"/>
              </a:rPr>
              <a:t>the real home · same Worker serves the app </a:t>
            </a:r>
            <a:r>
              <a:rPr sz="1600" b="0" i="1">
                <a:solidFill>
                  <a:srgbClr val="E6EDF3"/>
                </a:solidFill>
                <a:latin typeface="Space Grotesk"/>
              </a:rPr>
              <a:t>and</a:t>
            </a:r>
            <a:r>
              <a:rPr sz="1600" b="0" i="0">
                <a:solidFill>
                  <a:srgbClr val="E6EDF3"/>
                </a:solidFill>
                <a:latin typeface="Space Grotesk"/>
              </a:rPr>
              <a:t> a same-origin POST /collect → per-app D1</a:t>
            </a:r>
          </a:p>
        </p:txBody>
      </p:sp>
      <p:sp>
        <p:nvSpPr>
          <p:cNvPr id="6" name="TextBox 5"/>
          <p:cNvSpPr txBox="1"/>
          <p:nvPr/>
        </p:nvSpPr>
        <p:spPr>
          <a:xfrm>
            <a:off x="822960" y="4206240"/>
            <a:ext cx="10545775" cy="640080"/>
          </a:xfrm>
          <a:prstGeom prst="rect">
            <a:avLst/>
          </a:prstGeom>
          <a:noFill/>
        </p:spPr>
        <p:txBody>
          <a:bodyPr wrap="square" anchor="t">
            <a:spAutoFit/>
          </a:bodyPr>
          <a:lstStyle/>
          <a:p>
            <a:pPr algn="l">
              <a:lnSpc>
                <a:spcPct val="110000"/>
              </a:lnSpc>
            </a:pPr>
            <a:r>
              <a:rPr sz="1300" b="0" i="0">
                <a:solidFill>
                  <a:srgbClr val="B1BAC4"/>
                </a:solidFill>
                <a:latin typeface="Space Mono"/>
              </a:rPr>
              <a:t>The entire calculator is one index.html — HTML + one CSS block + one vanilla JS block. No framework.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GIZMOS · ARCHITECTURE</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One plain Worker does everything</a:t>
            </a:r>
          </a:p>
        </p:txBody>
      </p:sp>
      <p:sp>
        <p:nvSpPr>
          <p:cNvPr id="4" name="Rounded Rectangle 3"/>
          <p:cNvSpPr/>
          <p:nvPr/>
        </p:nvSpPr>
        <p:spPr>
          <a:xfrm>
            <a:off x="822960" y="2103120"/>
            <a:ext cx="10545775" cy="1554480"/>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64592"/>
          <a:lstStyle/>
          <a:p>
            <a:pPr algn="ctr">
              <a:lnSpc>
                <a:spcPct val="125000"/>
              </a:lnSpc>
            </a:pPr>
            <a:r>
              <a:rPr sz="1500" b="0" i="0">
                <a:solidFill>
                  <a:srgbClr val="E6EDF3"/>
                </a:solidFill>
                <a:latin typeface="Space Mono"/>
              </a:rPr>
              <a:t>GET  /         → serve base64-embedded index.html</a:t>
            </a:r>
          </a:p>
          <a:p>
            <a:pPr>
              <a:lnSpc>
                <a:spcPct val="125000"/>
              </a:lnSpc>
            </a:pPr>
            <a:r>
              <a:rPr sz="1500" b="0" i="0">
                <a:solidFill>
                  <a:srgbClr val="E6EDF3"/>
                </a:solidFill>
                <a:latin typeface="Space Mono"/>
              </a:rPr>
              <a:t>POST /collect  → upsert survey row into D1 (by sessionId)</a:t>
            </a:r>
          </a:p>
          <a:p>
            <a:pPr>
              <a:lnSpc>
                <a:spcPct val="125000"/>
              </a:lnSpc>
            </a:pPr>
            <a:r>
              <a:rPr sz="1500" b="0" i="0">
                <a:solidFill>
                  <a:srgbClr val="E6EDF3"/>
                </a:solidFill>
                <a:latin typeface="Space Mono"/>
              </a:rPr>
              <a:t>GET  /export   → CSV dump of responses</a:t>
            </a:r>
          </a:p>
        </p:txBody>
      </p:sp>
      <p:sp>
        <p:nvSpPr>
          <p:cNvPr id="5" name="TextBox 4"/>
          <p:cNvSpPr txBox="1"/>
          <p:nvPr/>
        </p:nvSpPr>
        <p:spPr>
          <a:xfrm>
            <a:off x="822960" y="402336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Per-app D1 auto-provisioned · table created lazily (CREATE TABLE IF NOT EXISTS) · consent-gated.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WHAT FOUGHT BACK</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Three platform lessons</a:t>
            </a:r>
          </a:p>
        </p:txBody>
      </p:sp>
      <p:sp>
        <p:nvSpPr>
          <p:cNvPr id="4" name="Rounded Rectangle 3"/>
          <p:cNvSpPr/>
          <p:nvPr/>
        </p:nvSpPr>
        <p:spPr>
          <a:xfrm>
            <a:off x="822960" y="201168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1 · MODULE LOAD</a:t>
            </a:r>
          </a:p>
          <a:p>
            <a:pPr>
              <a:lnSpc>
                <a:spcPct val="112000"/>
              </a:lnSpc>
            </a:pPr>
            <a:r>
              <a:rPr sz="1500" b="0" i="0">
                <a:solidFill>
                  <a:srgbClr val="E6EDF3"/>
                </a:solidFill>
                <a:latin typeface="Space Grotesk"/>
              </a:rPr>
              <a:t>a bare import 'hono' → </a:t>
            </a:r>
            <a:r>
              <a:rPr sz="1500" b="1" i="0">
                <a:solidFill>
                  <a:srgbClr val="E6EDF3"/>
                </a:solidFill>
                <a:latin typeface="Space Grotesk"/>
              </a:rPr>
              <a:t>500 on load</a:t>
            </a:r>
            <a:r>
              <a:rPr sz="1500" b="0" i="0">
                <a:solidFill>
                  <a:srgbClr val="E6EDF3"/>
                </a:solidFill>
                <a:latin typeface="Space Grotesk"/>
              </a:rPr>
              <a:t>, empty logs → rewrite as a plain Workers module, no imports</a:t>
            </a:r>
          </a:p>
        </p:txBody>
      </p:sp>
      <p:sp>
        <p:nvSpPr>
          <p:cNvPr id="5" name="Rounded Rectangle 4"/>
          <p:cNvSpPr/>
          <p:nvPr/>
        </p:nvSpPr>
        <p:spPr>
          <a:xfrm>
            <a:off x="822960" y="329184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2 · RESERVED PATH</a:t>
            </a:r>
          </a:p>
          <a:p>
            <a:pPr>
              <a:lnSpc>
                <a:spcPct val="112000"/>
              </a:lnSpc>
            </a:pPr>
            <a:r>
              <a:rPr sz="1500" b="0" i="0">
                <a:solidFill>
                  <a:srgbClr val="E6EDF3"/>
                </a:solidFill>
                <a:latin typeface="Space Grotesk"/>
              </a:rPr>
              <a:t>/api/* is platform-reserved → app POSTs </a:t>
            </a:r>
            <a:r>
              <a:rPr sz="1500" b="1" i="0">
                <a:solidFill>
                  <a:srgbClr val="E6EDF3"/>
                </a:solidFill>
                <a:latin typeface="Space Grotesk"/>
              </a:rPr>
              <a:t>silently blocked</a:t>
            </a:r>
            <a:r>
              <a:rPr sz="1500" b="0" i="0">
                <a:solidFill>
                  <a:srgbClr val="E6EDF3"/>
                </a:solidFill>
                <a:latin typeface="Space Grotesk"/>
              </a:rPr>
              <a:t> → move to /collect &amp; /export</a:t>
            </a:r>
          </a:p>
        </p:txBody>
      </p:sp>
      <p:sp>
        <p:nvSpPr>
          <p:cNvPr id="6" name="Rounded Rectangle 5"/>
          <p:cNvSpPr/>
          <p:nvPr/>
        </p:nvSpPr>
        <p:spPr>
          <a:xfrm>
            <a:off x="822960" y="4572000"/>
            <a:ext cx="10545775" cy="1051560"/>
          </a:xfrm>
          <a:prstGeom prst="roundRect">
            <a:avLst>
              <a:gd name="adj" fmla="val 8000"/>
            </a:avLst>
          </a:prstGeom>
          <a:solidFill>
            <a:srgbClr val="161B22"/>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37160" bIns="137160"/>
          <a:lstStyle/>
          <a:p>
            <a:pPr algn="ctr">
              <a:spcAft>
                <a:spcPts val="700"/>
              </a:spcAft>
            </a:pPr>
            <a:r>
              <a:rPr sz="1200" b="1" i="0">
                <a:solidFill>
                  <a:srgbClr val="3FB950"/>
                </a:solidFill>
                <a:latin typeface="Space Mono"/>
              </a:rPr>
              <a:t>3 · CROSS-ORIGIN AUTH</a:t>
            </a:r>
          </a:p>
          <a:p>
            <a:pPr>
              <a:lnSpc>
                <a:spcPct val="112000"/>
              </a:lnSpc>
            </a:pPr>
            <a:r>
              <a:rPr sz="1500" b="0" i="0">
                <a:solidFill>
                  <a:srgbClr val="E6EDF3"/>
                </a:solidFill>
                <a:latin typeface="Space Grotesk"/>
              </a:rPr>
              <a:t>Apps-Script POSTs </a:t>
            </a:r>
            <a:r>
              <a:rPr sz="1500" b="1" i="0">
                <a:solidFill>
                  <a:srgbClr val="E6EDF3"/>
                </a:solidFill>
                <a:latin typeface="Space Grotesk"/>
              </a:rPr>
              <a:t>dropped the auth cookie</a:t>
            </a:r>
            <a:r>
              <a:rPr sz="1500" b="0" i="0">
                <a:solidFill>
                  <a:srgbClr val="E6EDF3"/>
                </a:solidFill>
                <a:latin typeface="Space Grotesk"/>
              </a:rPr>
              <a:t> (3rd-party-cookie stripping) → pivot to </a:t>
            </a:r>
            <a:r>
              <a:rPr sz="1500" b="0" i="1">
                <a:solidFill>
                  <a:srgbClr val="E6EDF3"/>
                </a:solidFill>
                <a:latin typeface="Space Grotesk"/>
              </a:rPr>
              <a:t>same-origin</a:t>
            </a:r>
            <a:r>
              <a:rPr sz="1500" b="0" i="0">
                <a:solidFill>
                  <a:srgbClr val="E6EDF3"/>
                </a:solidFill>
                <a:latin typeface="Space Grotesk"/>
              </a:rPr>
              <a:t> collection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BUILD · EMBED.MJS</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One source file, regenerated</a:t>
            </a:r>
          </a:p>
        </p:txBody>
      </p:sp>
      <p:sp>
        <p:nvSpPr>
          <p:cNvPr id="4" name="Rounded Rectangle 3"/>
          <p:cNvSpPr/>
          <p:nvPr/>
        </p:nvSpPr>
        <p:spPr>
          <a:xfrm>
            <a:off x="822960" y="2103120"/>
            <a:ext cx="10545775" cy="1828800"/>
          </a:xfrm>
          <a:prstGeom prst="roundRect">
            <a:avLst>
              <a:gd name="adj" fmla="val 8000"/>
            </a:avLst>
          </a:prstGeom>
          <a:solidFill>
            <a:srgbClr val="1C2330"/>
          </a:solidFill>
          <a:ln w="12700">
            <a:solidFill>
              <a:srgbClr val="444C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tIns="164592"/>
          <a:lstStyle/>
          <a:p>
            <a:pPr algn="ctr">
              <a:lnSpc>
                <a:spcPct val="125000"/>
              </a:lnSpc>
            </a:pPr>
            <a:r>
              <a:rPr sz="1500" b="0" i="0">
                <a:solidFill>
                  <a:srgbClr val="E6EDF3"/>
                </a:solidFill>
                <a:latin typeface="Space Mono"/>
              </a:rPr>
              <a:t>index.html  +  worker.template.ts</a:t>
            </a:r>
          </a:p>
          <a:p>
            <a:pPr>
              <a:lnSpc>
                <a:spcPct val="125000"/>
              </a:lnSpc>
            </a:pPr>
            <a:r>
              <a:rPr sz="1500" b="0" i="0">
                <a:solidFill>
                  <a:srgbClr val="E6EDF3"/>
                </a:solidFill>
                <a:latin typeface="Space Mono"/>
              </a:rPr>
              <a:t>      │  node scripts/embed.mjs   </a:t>
            </a:r>
            <a:r>
              <a:rPr sz="1400" b="0" i="0">
                <a:solidFill>
                  <a:srgbClr val="8B949E"/>
                </a:solidFill>
                <a:latin typeface="Space Mono"/>
              </a:rPr>
              <a:t>// base64-inline the HTML</a:t>
            </a:r>
          </a:p>
          <a:p>
            <a:pPr>
              <a:lnSpc>
                <a:spcPct val="125000"/>
              </a:lnSpc>
            </a:pPr>
            <a:r>
              <a:rPr sz="1500" b="0" i="0">
                <a:solidFill>
                  <a:srgbClr val="E6EDF3"/>
                </a:solidFill>
                <a:latin typeface="Space Mono"/>
              </a:rPr>
              <a:t>      ▼</a:t>
            </a:r>
          </a:p>
          <a:p>
            <a:pPr>
              <a:lnSpc>
                <a:spcPct val="125000"/>
              </a:lnSpc>
            </a:pPr>
            <a:r>
              <a:rPr sz="1500" b="0" i="0">
                <a:solidFill>
                  <a:srgbClr val="E6EDF3"/>
                </a:solidFill>
                <a:latin typeface="Space Mono"/>
              </a:rPr>
              <a:t>gizmos-app/src/index.ts  →  gizmos push --org telus</a:t>
            </a:r>
          </a:p>
        </p:txBody>
      </p:sp>
      <p:sp>
        <p:nvSpPr>
          <p:cNvPr id="5" name="TextBox 4"/>
          <p:cNvSpPr txBox="1"/>
          <p:nvPr/>
        </p:nvSpPr>
        <p:spPr>
          <a:xfrm>
            <a:off x="822960" y="4206240"/>
            <a:ext cx="10545775" cy="640080"/>
          </a:xfrm>
          <a:prstGeom prst="rect">
            <a:avLst/>
          </a:prstGeom>
          <a:noFill/>
        </p:spPr>
        <p:txBody>
          <a:bodyPr wrap="square" anchor="t">
            <a:spAutoFit/>
          </a:bodyPr>
          <a:lstStyle/>
          <a:p>
            <a:pPr algn="l">
              <a:lnSpc>
                <a:spcPct val="110000"/>
              </a:lnSpc>
            </a:pPr>
            <a:r>
              <a:rPr sz="1600" b="0" i="0">
                <a:solidFill>
                  <a:srgbClr val="B1BAC4"/>
                </a:solidFill>
                <a:latin typeface="Space Grotesk"/>
              </a:rPr>
              <a:t>Base64, not a template literal — the inline &lt;script&gt; is full of backticks and ${...}. Regenerate after every edit.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COLLECTION · TELEMETRY</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Anonymous, consent-gated, one row per visit</a:t>
            </a:r>
          </a:p>
        </p:txBody>
      </p:sp>
      <p:sp>
        <p:nvSpPr>
          <p:cNvPr id="4" name="TextBox 3"/>
          <p:cNvSpPr txBox="1"/>
          <p:nvPr/>
        </p:nvSpPr>
        <p:spPr>
          <a:xfrm>
            <a:off x="822960" y="2103120"/>
            <a:ext cx="10545775" cy="3657600"/>
          </a:xfrm>
          <a:prstGeom prst="rect">
            <a:avLst/>
          </a:prstGeom>
          <a:noFill/>
        </p:spPr>
        <p:txBody>
          <a:bodyPr wrap="square">
            <a:spAutoFit/>
          </a:bodyPr>
          <a:lstStyle/>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Upsert by </a:t>
            </a:r>
            <a:r>
              <a:rPr sz="1800" b="0" i="0">
                <a:solidFill>
                  <a:srgbClr val="3FB950"/>
                </a:solidFill>
                <a:latin typeface="Space Mono"/>
              </a:rPr>
              <a:t>sessionId</a:t>
            </a:r>
            <a:r>
              <a:rPr sz="2000" b="0" i="0">
                <a:solidFill>
                  <a:srgbClr val="E6EDF3"/>
                </a:solidFill>
                <a:latin typeface="Space Grotesk"/>
              </a:rPr>
              <a:t>; baseline frozen at first results render.</a:t>
            </a:r>
          </a:p>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Engagement: </a:t>
            </a:r>
            <a:r>
              <a:rPr sz="1800" b="0" i="0">
                <a:solidFill>
                  <a:srgbClr val="3FB950"/>
                </a:solidFill>
                <a:latin typeface="Space Mono"/>
              </a:rPr>
              <a:t>dwell_ms</a:t>
            </a:r>
            <a:r>
              <a:rPr sz="2000" b="0" i="0">
                <a:solidFill>
                  <a:srgbClr val="E6EDF3"/>
                </a:solidFill>
                <a:latin typeface="Space Grotesk"/>
              </a:rPr>
              <a:t>, which menus opened, share, retake.</a:t>
            </a:r>
          </a:p>
          <a:p>
            <a:pPr>
              <a:lnSpc>
                <a:spcPct val="112000"/>
              </a:lnSpc>
              <a:spcAft>
                <a:spcPts val="1100"/>
              </a:spcAft>
            </a:pPr>
            <a:r>
              <a:rPr sz="2000" b="1" i="0">
                <a:solidFill>
                  <a:srgbClr val="3FB950"/>
                </a:solidFill>
                <a:latin typeface="Space Grotesk"/>
              </a:rPr>
              <a:t>•  </a:t>
            </a:r>
            <a:r>
              <a:rPr sz="2000" b="0" i="0">
                <a:solidFill>
                  <a:srgbClr val="E6EDF3"/>
                </a:solidFill>
                <a:latin typeface="Space Grotesk"/>
              </a:rPr>
              <a:t>Schema evolves via best-effort </a:t>
            </a:r>
            <a:r>
              <a:rPr sz="1800" b="0" i="0">
                <a:solidFill>
                  <a:srgbClr val="3FB950"/>
                </a:solidFill>
                <a:latin typeface="Space Mono"/>
              </a:rPr>
              <a:t>ALTER TABLE … ADD COLUMN</a:t>
            </a:r>
            <a:r>
              <a:rPr sz="2000" b="0" i="0">
                <a:solidFill>
                  <a:srgbClr val="E6EDF3"/>
                </a:solidFill>
                <a:latin typeface="Space Grotesk"/>
              </a:rPr>
              <a:t> on an existing 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22960" y="640080"/>
            <a:ext cx="10545775" cy="365760"/>
          </a:xfrm>
          <a:prstGeom prst="rect">
            <a:avLst/>
          </a:prstGeom>
          <a:noFill/>
        </p:spPr>
        <p:txBody>
          <a:bodyPr wrap="square" anchor="t">
            <a:spAutoFit/>
          </a:bodyPr>
          <a:lstStyle/>
          <a:p>
            <a:pPr algn="l"/>
            <a:r>
              <a:rPr sz="1400" b="1" i="0">
                <a:solidFill>
                  <a:srgbClr val="3FB950"/>
                </a:solidFill>
                <a:latin typeface="Space Mono"/>
              </a:rPr>
              <a:t>WHAT TO STEAL</a:t>
            </a:r>
          </a:p>
        </p:txBody>
      </p:sp>
      <p:sp>
        <p:nvSpPr>
          <p:cNvPr id="3" name="TextBox 2"/>
          <p:cNvSpPr txBox="1"/>
          <p:nvPr/>
        </p:nvSpPr>
        <p:spPr>
          <a:xfrm>
            <a:off x="822960" y="1078992"/>
            <a:ext cx="10545775" cy="1143000"/>
          </a:xfrm>
          <a:prstGeom prst="rect">
            <a:avLst/>
          </a:prstGeom>
          <a:noFill/>
        </p:spPr>
        <p:txBody>
          <a:bodyPr wrap="square" anchor="t">
            <a:spAutoFit/>
          </a:bodyPr>
          <a:lstStyle/>
          <a:p>
            <a:pPr algn="l">
              <a:lnSpc>
                <a:spcPct val="100000"/>
              </a:lnSpc>
            </a:pPr>
            <a:r>
              <a:rPr sz="4000" b="1" i="0">
                <a:solidFill>
                  <a:srgbClr val="E6EDF3"/>
                </a:solidFill>
                <a:latin typeface="Space Grotesk"/>
              </a:rPr>
              <a:t>Four things that generalise</a:t>
            </a:r>
          </a:p>
        </p:txBody>
      </p:sp>
      <p:sp>
        <p:nvSpPr>
          <p:cNvPr id="4" name="TextBox 3"/>
          <p:cNvSpPr txBox="1"/>
          <p:nvPr/>
        </p:nvSpPr>
        <p:spPr>
          <a:xfrm>
            <a:off x="822960" y="2011680"/>
            <a:ext cx="10545775" cy="3657600"/>
          </a:xfrm>
          <a:prstGeom prst="rect">
            <a:avLst/>
          </a:prstGeom>
          <a:noFill/>
        </p:spPr>
        <p:txBody>
          <a:bodyPr wrap="square">
            <a:spAutoFit/>
          </a:bodyPr>
          <a:lstStyle/>
          <a:p>
            <a:pPr>
              <a:lnSpc>
                <a:spcPct val="112000"/>
              </a:lnSpc>
              <a:spcAft>
                <a:spcPts val="1200"/>
              </a:spcAft>
            </a:pPr>
            <a:r>
              <a:rPr sz="2000" b="1" i="0">
                <a:solidFill>
                  <a:srgbClr val="3FB950"/>
                </a:solidFill>
                <a:latin typeface="Space Grotesk"/>
              </a:rPr>
              <a:t>•  </a:t>
            </a:r>
            <a:r>
              <a:rPr sz="1900" b="1" i="0">
                <a:solidFill>
                  <a:srgbClr val="E6EDF3"/>
                </a:solidFill>
                <a:latin typeface="Space Grotesk"/>
              </a:rPr>
              <a:t>Platform constraints shape architecture</a:t>
            </a:r>
            <a:r>
              <a:rPr sz="1900" b="0" i="0">
                <a:solidFill>
                  <a:srgbClr val="E6EDF3"/>
                </a:solidFill>
                <a:latin typeface="Space Grotesk"/>
              </a:rPr>
              <a:t> — the plain Worker + same-origin collection are scars, not preferences.</a:t>
            </a:r>
          </a:p>
          <a:p>
            <a:pPr>
              <a:lnSpc>
                <a:spcPct val="112000"/>
              </a:lnSpc>
              <a:spcAft>
                <a:spcPts val="1200"/>
              </a:spcAft>
            </a:pPr>
            <a:r>
              <a:rPr sz="2000" b="1" i="0">
                <a:solidFill>
                  <a:srgbClr val="3FB950"/>
                </a:solidFill>
                <a:latin typeface="Space Grotesk"/>
              </a:rPr>
              <a:t>•  </a:t>
            </a:r>
            <a:r>
              <a:rPr sz="1900" b="1" i="0">
                <a:solidFill>
                  <a:srgbClr val="E6EDF3"/>
                </a:solidFill>
                <a:latin typeface="Space Grotesk"/>
              </a:rPr>
              <a:t>Ship the schema and its migration together</a:t>
            </a:r>
            <a:r>
              <a:rPr sz="1900" b="0" i="0">
                <a:solidFill>
                  <a:srgbClr val="E6EDF3"/>
                </a:solidFill>
                <a:latin typeface="Space Grotesk"/>
              </a:rPr>
              <a:t> — CREATE IF NOT EXISTS never alters a live table.</a:t>
            </a:r>
          </a:p>
          <a:p>
            <a:pPr>
              <a:lnSpc>
                <a:spcPct val="112000"/>
              </a:lnSpc>
              <a:spcAft>
                <a:spcPts val="1200"/>
              </a:spcAft>
            </a:pPr>
            <a:r>
              <a:rPr sz="2000" b="1" i="0">
                <a:solidFill>
                  <a:srgbClr val="3FB950"/>
                </a:solidFill>
                <a:latin typeface="Space Grotesk"/>
              </a:rPr>
              <a:t>•  </a:t>
            </a:r>
            <a:r>
              <a:rPr sz="1900" b="1" i="0">
                <a:solidFill>
                  <a:srgbClr val="E6EDF3"/>
                </a:solidFill>
                <a:latin typeface="Space Grotesk"/>
              </a:rPr>
              <a:t>Transparency is a feature</a:t>
            </a:r>
            <a:r>
              <a:rPr sz="1900" b="0" i="0">
                <a:solidFill>
                  <a:srgbClr val="E6EDF3"/>
                </a:solidFill>
                <a:latin typeface="Space Grotesk"/>
              </a:rPr>
              <a:t> — editable, sourced, confidence-rated beats a confident black box.</a:t>
            </a:r>
          </a:p>
          <a:p>
            <a:pPr>
              <a:lnSpc>
                <a:spcPct val="112000"/>
              </a:lnSpc>
              <a:spcAft>
                <a:spcPts val="1200"/>
              </a:spcAft>
            </a:pPr>
            <a:r>
              <a:rPr sz="2000" b="1" i="0">
                <a:solidFill>
                  <a:srgbClr val="3FB950"/>
                </a:solidFill>
                <a:latin typeface="Space Grotesk"/>
              </a:rPr>
              <a:t>•  </a:t>
            </a:r>
            <a:r>
              <a:rPr sz="1900" b="1" i="0">
                <a:solidFill>
                  <a:srgbClr val="E6EDF3"/>
                </a:solidFill>
                <a:latin typeface="Space Grotesk"/>
              </a:rPr>
              <a:t>Right-size your model</a:t>
            </a:r>
            <a:r>
              <a:rPr sz="1900" b="0" i="0">
                <a:solidFill>
                  <a:srgbClr val="E6EDF3"/>
                </a:solidFill>
                <a:latin typeface="Space Grotesk"/>
              </a:rPr>
              <a:t> — the app's own advice, applied to how we build.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822960" y="2286000"/>
            <a:ext cx="2098548" cy="457200"/>
          </a:xfrm>
          <a:prstGeom prst="roundRect">
            <a:avLst>
              <a:gd name="adj" fmla="val 50000"/>
            </a:avLst>
          </a:prstGeom>
          <a:solidFill>
            <a:srgbClr val="122D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i="0">
                <a:solidFill>
                  <a:srgbClr val="3FB950"/>
                </a:solidFill>
                <a:latin typeface="Space Mono"/>
              </a:rPr>
              <a:t>THANK YOU</a:t>
            </a:r>
          </a:p>
        </p:txBody>
      </p:sp>
      <p:sp>
        <p:nvSpPr>
          <p:cNvPr id="3" name="TextBox 2"/>
          <p:cNvSpPr txBox="1"/>
          <p:nvPr/>
        </p:nvSpPr>
        <p:spPr>
          <a:xfrm>
            <a:off x="822960" y="2926080"/>
            <a:ext cx="10545775" cy="1097280"/>
          </a:xfrm>
          <a:prstGeom prst="rect">
            <a:avLst/>
          </a:prstGeom>
          <a:noFill/>
        </p:spPr>
        <p:txBody>
          <a:bodyPr wrap="square" anchor="t">
            <a:spAutoFit/>
          </a:bodyPr>
          <a:lstStyle/>
          <a:p>
            <a:pPr algn="l"/>
            <a:r>
              <a:rPr sz="5200" b="1" i="0">
                <a:solidFill>
                  <a:srgbClr val="E6EDF3"/>
                </a:solidFill>
                <a:latin typeface="Space Grotesk"/>
              </a:rPr>
              <a:t>Questions?</a:t>
            </a:r>
          </a:p>
        </p:txBody>
      </p:sp>
      <p:sp>
        <p:nvSpPr>
          <p:cNvPr id="4" name="TextBox 3"/>
          <p:cNvSpPr txBox="1"/>
          <p:nvPr/>
        </p:nvSpPr>
        <p:spPr>
          <a:xfrm>
            <a:off x="822960" y="4297680"/>
            <a:ext cx="10545775" cy="457200"/>
          </a:xfrm>
          <a:prstGeom prst="rect">
            <a:avLst/>
          </a:prstGeom>
          <a:noFill/>
        </p:spPr>
        <p:txBody>
          <a:bodyPr wrap="square" anchor="t">
            <a:spAutoFit/>
          </a:bodyPr>
          <a:lstStyle/>
          <a:p>
            <a:pPr algn="l"/>
            <a:r>
              <a:rPr sz="1800" b="0" i="0">
                <a:solidFill>
                  <a:srgbClr val="B1BAC4"/>
                </a:solidFill>
                <a:latin typeface="Space Grotesk"/>
              </a:rPr>
              <a:t>App · </a:t>
            </a:r>
            <a:r>
              <a:rPr sz="1600" b="0" i="0">
                <a:solidFill>
                  <a:srgbClr val="3FB950"/>
                </a:solidFill>
                <a:latin typeface="Space Mono"/>
              </a:rPr>
              <a:t>ai-carbon-footprint.telus.gizmos.run</a:t>
            </a:r>
          </a:p>
        </p:txBody>
      </p:sp>
      <p:sp>
        <p:nvSpPr>
          <p:cNvPr id="5" name="TextBox 4"/>
          <p:cNvSpPr txBox="1"/>
          <p:nvPr/>
        </p:nvSpPr>
        <p:spPr>
          <a:xfrm>
            <a:off x="822960" y="4754880"/>
            <a:ext cx="10545775" cy="457200"/>
          </a:xfrm>
          <a:prstGeom prst="rect">
            <a:avLst/>
          </a:prstGeom>
          <a:noFill/>
        </p:spPr>
        <p:txBody>
          <a:bodyPr wrap="square" anchor="t">
            <a:spAutoFit/>
          </a:bodyPr>
          <a:lstStyle/>
          <a:p>
            <a:pPr algn="l"/>
            <a:r>
              <a:rPr sz="1800" b="0" i="0">
                <a:solidFill>
                  <a:srgbClr val="B1BAC4"/>
                </a:solidFill>
                <a:latin typeface="Space Grotesk"/>
              </a:rPr>
              <a:t>Code · </a:t>
            </a:r>
            <a:r>
              <a:rPr sz="1600" b="0" i="0">
                <a:solidFill>
                  <a:srgbClr val="3FB950"/>
                </a:solidFill>
                <a:latin typeface="Space Mono"/>
              </a:rPr>
              <a:t>github.com/bvillav-a11y/ai-carbon-calculator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